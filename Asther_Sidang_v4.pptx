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800" b="0" i="0" u="none" strike="noStrike">
                <a:solidFill>
                  <a:srgbClr val="000000"/>
                </a:solidFill>
                <a:latin typeface="Arial"/>
              </a:rPr>
              <a:t>Skor Relevance/Accuracy per Kategori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Relevance &amp; Accuracy</c:v>
                </c:pt>
              </c:strCache>
            </c:strRef>
          </c:tx>
          <c:spPr>
            <a:solidFill>
              <a:srgbClr val="2D9CD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D9CD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4A84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B7A4E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QURAN</c:v>
                  </c:pt>
                  <c:pt idx="1">
                    <c:v>FIQH</c:v>
                  </c:pt>
                  <c:pt idx="2">
                    <c:v>AQIDAH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89.1</c:v>
                </c:pt>
                <c:pt idx="1">
                  <c:v>70.9</c:v>
                </c:pt>
                <c:pt idx="2">
                  <c:v>98.6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Skor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5118199"/>
            <a:ext cx="9144000" cy="25301"/>
          </a:xfrm>
          <a:prstGeom prst="rect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143000" y="1546324"/>
            <a:ext cx="406301" cy="25301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143000" y="1914525"/>
            <a:ext cx="69951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140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THESIS DEFENSE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" y="2225576"/>
            <a:ext cx="6995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Platform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2682776"/>
            <a:ext cx="6995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 Cerdas Berbasis RAG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43000" y="3139976"/>
            <a:ext cx="6995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untuk Domain Keilmuan Islam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43000" y="4457849"/>
            <a:ext cx="152943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Muhammad Rakha Abimanyu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43000" y="4705499"/>
            <a:ext cx="152943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L200220011 — Informatika UMS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7803207" y="4432399"/>
            <a:ext cx="201748" cy="368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609451"/>
            <a:ext cx="69951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1400"/>
              </a:spcAft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1143000" y="1890266"/>
            <a:ext cx="171450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19200" y="1193453"/>
            <a:ext cx="15933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219200" y="1558528"/>
            <a:ext cx="15933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Latar Belakang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2857500" y="1890266"/>
            <a:ext cx="171450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33700" y="1193453"/>
            <a:ext cx="15933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933700" y="1558528"/>
            <a:ext cx="15933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Rumusan &amp; Solusi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4572000" y="1890266"/>
            <a:ext cx="171450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48200" y="1193453"/>
            <a:ext cx="15933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48200" y="1558528"/>
            <a:ext cx="15933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Metode &amp; Data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6286500" y="1890266"/>
            <a:ext cx="171450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62700" y="1193453"/>
            <a:ext cx="15933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62700" y="1558528"/>
            <a:ext cx="15933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Arsitektur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1143000" y="2883843"/>
            <a:ext cx="171450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19200" y="2187029"/>
            <a:ext cx="15933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19200" y="2552105"/>
            <a:ext cx="15933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Mekanisme RAG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857500" y="2883843"/>
            <a:ext cx="171450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33700" y="2187029"/>
            <a:ext cx="15933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3700" y="2552105"/>
            <a:ext cx="15933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Klasifikasi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572000" y="2883843"/>
            <a:ext cx="171450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48200" y="2187029"/>
            <a:ext cx="15933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648200" y="2552105"/>
            <a:ext cx="15933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Alur Chat API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286500" y="2883843"/>
            <a:ext cx="171450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62700" y="2187029"/>
            <a:ext cx="15933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62700" y="2552105"/>
            <a:ext cx="15933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Evaluasi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219200" y="3180606"/>
            <a:ext cx="15933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219200" y="3545681"/>
            <a:ext cx="15933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Validasi Ahli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2933700" y="3180606"/>
            <a:ext cx="15933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933700" y="3545681"/>
            <a:ext cx="15933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Kesimpulan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7902029" y="4705499"/>
            <a:ext cx="1009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609451"/>
            <a:ext cx="69951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43000" y="825252"/>
            <a:ext cx="699516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134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Latar Belakang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43000" y="1323677"/>
            <a:ext cx="253901" cy="25301"/>
          </a:xfrm>
          <a:prstGeom prst="rect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43000" y="1475929"/>
            <a:ext cx="20725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8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Kebutuhan Informasi Islam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" y="1710779"/>
            <a:ext cx="207258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Masyarakat Indonesia membutuhkan akses cepat dan akurat terhadap pengetahuan keislaman. Sumber informasi yang tersebar dan tidak terverifikasi menjadi tantangan utama.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555950" y="1323677"/>
            <a:ext cx="253901" cy="25301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555950" y="1475929"/>
            <a:ext cx="20727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8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Keterbatasan Chatbot Umum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555950" y="1710779"/>
            <a:ext cx="207274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dan chatbot AI umum sering menghasilkan hallucination pada konten keislaman. Tidak ada guardrail untuk menjamin akurasi dalil.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969050" y="1323677"/>
            <a:ext cx="253901" cy="25301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969050" y="1475929"/>
            <a:ext cx="20725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8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Peluang Teknologi RAG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69050" y="1710779"/>
            <a:ext cx="207258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Retrieval-Augmented Generation memungkinkan LLM mengakses knowledge base terverifikasi untuk jawaban akurat dan bersumber.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7902029" y="4705499"/>
            <a:ext cx="1009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609451"/>
            <a:ext cx="69951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43000" y="825252"/>
            <a:ext cx="699516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134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Rumusan Masalah &amp; Solusi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43000" y="1387078"/>
            <a:ext cx="323844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600"/>
              </a:spcAft>
              <a:buNone/>
            </a:pPr>
            <a:r>
              <a:rPr lang="en-US" sz="7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MASALAH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143000" y="2261592"/>
            <a:ext cx="317495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755279"/>
            <a:ext cx="323844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Bagaimana mengembangkan chatbot yang menjawab pertanyaan keislaman secara akurat menggunakan knowledge base terverifikasi?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143000" y="2969419"/>
            <a:ext cx="317495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2463105"/>
            <a:ext cx="323844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Bagaimana mengimplementasikan klasifikasi topik agar chatbot hanya merespons domain keislaman?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43000" y="3170932"/>
            <a:ext cx="323844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Bagaimana mengukur performa retrieval dan kualitas jawaban sistem RAG?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825901" y="1387078"/>
            <a:ext cx="323860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600"/>
              </a:spcAft>
              <a:buNone/>
            </a:pPr>
            <a:r>
              <a:rPr lang="en-US" sz="7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SOLUSI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4825901" y="2267694"/>
            <a:ext cx="3175099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25901" y="1761530"/>
            <a:ext cx="323860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Asther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825901" y="1977330"/>
            <a:ext cx="323860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 RAG + hybrid search + dashboard admin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4825901" y="2981623"/>
            <a:ext cx="3175099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25901" y="2475458"/>
            <a:ext cx="323860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Klasifikasi 3 Lapisan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825901" y="2691259"/>
            <a:ext cx="323860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Regex + follow-up detection + LLM classifier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4825901" y="3189387"/>
            <a:ext cx="323860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Evaluasi Terintegrasi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825901" y="3405188"/>
            <a:ext cx="323860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P, R, F1, Relevance, Accuracy bawaan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7902029" y="4705499"/>
            <a:ext cx="1009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609451"/>
            <a:ext cx="69951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43000" y="825252"/>
            <a:ext cx="699516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134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Metode Penelitian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43000" y="1387078"/>
            <a:ext cx="323844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600"/>
              </a:spcAft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TAHAPAN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143000" y="2267694"/>
            <a:ext cx="317495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812429"/>
            <a:ext cx="23317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98550" y="1761530"/>
            <a:ext cx="110346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Analisis Kebutuhan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498550" y="1977330"/>
            <a:ext cx="110346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Identifikasi domain dan fitur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1143000" y="2981623"/>
            <a:ext cx="317495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2526357"/>
            <a:ext cx="23317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98550" y="2475458"/>
            <a:ext cx="116464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Perancangan Arsitektur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498550" y="2691259"/>
            <a:ext cx="116464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 full-stack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1143000" y="3695551"/>
            <a:ext cx="317495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3240286"/>
            <a:ext cx="23317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498550" y="3189387"/>
            <a:ext cx="14814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Implementasi Sistem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498550" y="3405188"/>
            <a:ext cx="148146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Frontend, backend, RAG, dashboard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143000" y="3954214"/>
            <a:ext cx="23317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498550" y="3903315"/>
            <a:ext cx="104760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Pengujian &amp; Evaluasi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498550" y="4119116"/>
            <a:ext cx="104760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Metrik RAG + validasi ahli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4825901" y="1387078"/>
            <a:ext cx="323860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600"/>
              </a:spcAft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4825901" y="2036266"/>
            <a:ext cx="3175099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25901" y="1742629"/>
            <a:ext cx="48592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7556153" y="1742629"/>
            <a:ext cx="45374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15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825901" y="2518767"/>
            <a:ext cx="3175099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25901" y="2225129"/>
            <a:ext cx="43234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7515820" y="2225129"/>
            <a:ext cx="4948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825901" y="3001268"/>
            <a:ext cx="3175099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25901" y="2707630"/>
            <a:ext cx="41594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6941344" y="2707630"/>
            <a:ext cx="108084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+ pgvector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825901" y="3483769"/>
            <a:ext cx="3175099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25901" y="3190131"/>
            <a:ext cx="22679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ORM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7445276" y="3190131"/>
            <a:ext cx="56683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Drizzle ORM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825901" y="3966270"/>
            <a:ext cx="3175099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25901" y="3672632"/>
            <a:ext cx="918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7281118" y="3672632"/>
            <a:ext cx="73427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GPT-4.1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825901" y="4155132"/>
            <a:ext cx="30254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7217569" y="4155132"/>
            <a:ext cx="7991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Compose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7902029" y="4705499"/>
            <a:ext cx="1009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609451"/>
            <a:ext cx="69951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43000" y="825252"/>
            <a:ext cx="699516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134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Penelitian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43000" y="1298228"/>
            <a:ext cx="253901" cy="25301"/>
          </a:xfrm>
          <a:prstGeom prst="rect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43000" y="1437829"/>
            <a:ext cx="20898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Al-Qur'an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" y="1660029"/>
            <a:ext cx="2089895" cy="4527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Surah, ayat, tafsir, asbabun nuzul, dan pengetahuan dasar Al-Qur'an sebagai sumber utama hukum Islam.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547467" y="1298228"/>
            <a:ext cx="253901" cy="25301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547467" y="1437829"/>
            <a:ext cx="209004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Fiqh &amp; Hukum Islam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547467" y="1660029"/>
            <a:ext cx="2090047" cy="301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Ibadah, muamalah, hukum keluarga, pandangan berbagai mazhab dalam kehidupan sehari-hari.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5952083" y="1298228"/>
            <a:ext cx="253901" cy="25301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952083" y="1437829"/>
            <a:ext cx="20898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Aqidah &amp; Sejarah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52083" y="1660029"/>
            <a:ext cx="2089895" cy="301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Dasar aqidah, sejarah peradaban Islam, sirah nabawiyah, dan pemikiran teologi.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1143000" y="2460278"/>
            <a:ext cx="685800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2998291"/>
            <a:ext cx="155448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800"/>
              </a:spcBef>
              <a:spcAft>
                <a:spcPts val="2800"/>
              </a:spcAft>
              <a:buNone/>
            </a:pPr>
            <a:r>
              <a:rPr lang="en-US" sz="2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143000" y="3763417"/>
            <a:ext cx="155448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 Size (char)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2920901" y="2998291"/>
            <a:ext cx="1554632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800"/>
              </a:spcBef>
              <a:spcAft>
                <a:spcPts val="2800"/>
              </a:spcAft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2920901" y="3763417"/>
            <a:ext cx="155463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Overlap (char)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4698950" y="2998291"/>
            <a:ext cx="155448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800"/>
              </a:spcBef>
              <a:spcAft>
                <a:spcPts val="2800"/>
              </a:spcAft>
              <a:buNone/>
            </a:pPr>
            <a:r>
              <a:rPr lang="en-US" sz="2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1536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698950" y="3763417"/>
            <a:ext cx="155448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 Dims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6476851" y="2998291"/>
            <a:ext cx="1554632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800"/>
              </a:spcBef>
              <a:spcAft>
                <a:spcPts val="2800"/>
              </a:spcAft>
              <a:buNone/>
            </a:pPr>
            <a:r>
              <a:rPr lang="en-US" sz="2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476851" y="3763417"/>
            <a:ext cx="155463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Tables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7902029" y="4705499"/>
            <a:ext cx="1009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609451"/>
            <a:ext cx="69951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43000" y="825252"/>
            <a:ext cx="699516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134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Arsitektur Sistem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43000" y="1290638"/>
            <a:ext cx="699516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1400"/>
              </a:spcAft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Monolithic modular — Next.js 15 App Router + React Server Components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143000" y="2333030"/>
            <a:ext cx="685800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798290"/>
            <a:ext cx="10362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3000" y="2045940"/>
            <a:ext cx="103621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6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Layer</a:t>
            </a:r>
            <a:endParaRPr lang="en-US" sz="600" dirty="0"/>
          </a:p>
        </p:txBody>
      </p:sp>
      <p:sp>
        <p:nvSpPr>
          <p:cNvPr id="8" name="Text 6"/>
          <p:cNvSpPr/>
          <p:nvPr/>
        </p:nvSpPr>
        <p:spPr>
          <a:xfrm>
            <a:off x="2158901" y="1665089"/>
            <a:ext cx="1896517" cy="561677"/>
          </a:xfrm>
          <a:prstGeom prst="roundRect">
            <a:avLst>
              <a:gd name="adj" fmla="val 6783"/>
            </a:avLst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217660" y="1817340"/>
            <a:ext cx="177899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2217660" y="2001441"/>
            <a:ext cx="177899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6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React/Next.js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4131618" y="1665089"/>
            <a:ext cx="1896666" cy="561677"/>
          </a:xfrm>
          <a:prstGeom prst="roundRect">
            <a:avLst>
              <a:gd name="adj" fmla="val 6783"/>
            </a:avLst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190375" y="1817340"/>
            <a:ext cx="177915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Client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190375" y="2001441"/>
            <a:ext cx="177915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6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6104483" y="1665089"/>
            <a:ext cx="1896517" cy="561677"/>
          </a:xfrm>
          <a:prstGeom prst="roundRect">
            <a:avLst>
              <a:gd name="adj" fmla="val 6783"/>
            </a:avLst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163242" y="1817340"/>
            <a:ext cx="177899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App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6163242" y="2001441"/>
            <a:ext cx="177899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6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Bearer Token</a:t>
            </a:r>
            <a:endParaRPr lang="en-US" sz="600" dirty="0"/>
          </a:p>
        </p:txBody>
      </p:sp>
      <p:sp>
        <p:nvSpPr>
          <p:cNvPr id="17" name="Shape 15"/>
          <p:cNvSpPr/>
          <p:nvPr/>
        </p:nvSpPr>
        <p:spPr>
          <a:xfrm>
            <a:off x="1143000" y="3107234"/>
            <a:ext cx="685800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" y="2572494"/>
            <a:ext cx="10362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3000" y="2820144"/>
            <a:ext cx="103621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6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Handlers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2158901" y="2439293"/>
            <a:ext cx="1896517" cy="561677"/>
          </a:xfrm>
          <a:prstGeom prst="roundRect">
            <a:avLst>
              <a:gd name="adj" fmla="val 6783"/>
            </a:avLst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217660" y="2591544"/>
            <a:ext cx="177899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/api/chat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217660" y="2775645"/>
            <a:ext cx="177899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6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4131618" y="2439293"/>
            <a:ext cx="1896666" cy="561677"/>
          </a:xfrm>
          <a:prstGeom prst="roundRect">
            <a:avLst>
              <a:gd name="adj" fmla="val 6783"/>
            </a:avLst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190375" y="2591544"/>
            <a:ext cx="177915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/api/knowledge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190375" y="2775645"/>
            <a:ext cx="177915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6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6104483" y="2439293"/>
            <a:ext cx="1896517" cy="561677"/>
          </a:xfrm>
          <a:prstGeom prst="roundRect">
            <a:avLst>
              <a:gd name="adj" fmla="val 6783"/>
            </a:avLst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163242" y="2591544"/>
            <a:ext cx="177899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Actions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6163242" y="2775645"/>
            <a:ext cx="177899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6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Auth, Config</a:t>
            </a:r>
            <a:endParaRPr lang="en-US" sz="600" dirty="0"/>
          </a:p>
        </p:txBody>
      </p:sp>
      <p:sp>
        <p:nvSpPr>
          <p:cNvPr id="29" name="Shape 27"/>
          <p:cNvSpPr/>
          <p:nvPr/>
        </p:nvSpPr>
        <p:spPr>
          <a:xfrm>
            <a:off x="1143000" y="3881438"/>
            <a:ext cx="685800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43000" y="3346698"/>
            <a:ext cx="10362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43000" y="3594348"/>
            <a:ext cx="103621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6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2158901" y="3213497"/>
            <a:ext cx="1403300" cy="561677"/>
          </a:xfrm>
          <a:prstGeom prst="roundRect">
            <a:avLst>
              <a:gd name="adj" fmla="val 6783"/>
            </a:avLst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2222592" y="3365748"/>
            <a:ext cx="127591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Classifier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2222592" y="3549848"/>
            <a:ext cx="127591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6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3-tier</a:t>
            </a:r>
            <a:endParaRPr lang="en-US" sz="600" dirty="0"/>
          </a:p>
        </p:txBody>
      </p:sp>
      <p:sp>
        <p:nvSpPr>
          <p:cNvPr id="35" name="Text 33"/>
          <p:cNvSpPr/>
          <p:nvPr/>
        </p:nvSpPr>
        <p:spPr>
          <a:xfrm>
            <a:off x="3638401" y="3213497"/>
            <a:ext cx="1403449" cy="561677"/>
          </a:xfrm>
          <a:prstGeom prst="roundRect">
            <a:avLst>
              <a:gd name="adj" fmla="val 6783"/>
            </a:avLst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3702091" y="3365748"/>
            <a:ext cx="127607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Engine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3702091" y="3549848"/>
            <a:ext cx="127607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6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5118050" y="3213497"/>
            <a:ext cx="1403300" cy="561677"/>
          </a:xfrm>
          <a:prstGeom prst="roundRect">
            <a:avLst>
              <a:gd name="adj" fmla="val 6783"/>
            </a:avLst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5181741" y="3365748"/>
            <a:ext cx="127591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5181741" y="3549848"/>
            <a:ext cx="127591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6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+ Embed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6597551" y="3213497"/>
            <a:ext cx="1403449" cy="561677"/>
          </a:xfrm>
          <a:prstGeom prst="roundRect">
            <a:avLst>
              <a:gd name="adj" fmla="val 6783"/>
            </a:avLst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6661240" y="3365748"/>
            <a:ext cx="127607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6661240" y="3549848"/>
            <a:ext cx="127607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6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bcrypt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1143000" y="4102001"/>
            <a:ext cx="10362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43000" y="4349651"/>
            <a:ext cx="103621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6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pgvector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2158901" y="4049762"/>
            <a:ext cx="1403300" cy="399752"/>
          </a:xfrm>
          <a:prstGeom prst="roundRect">
            <a:avLst>
              <a:gd name="adj" fmla="val 9531"/>
            </a:avLst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2222592" y="4202013"/>
            <a:ext cx="127591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3638401" y="4049762"/>
            <a:ext cx="1403449" cy="399752"/>
          </a:xfrm>
          <a:prstGeom prst="roundRect">
            <a:avLst>
              <a:gd name="adj" fmla="val 9531"/>
            </a:avLst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3702091" y="4202013"/>
            <a:ext cx="127607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app_config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5118050" y="4049762"/>
            <a:ext cx="1403300" cy="399752"/>
          </a:xfrm>
          <a:prstGeom prst="roundRect">
            <a:avLst>
              <a:gd name="adj" fmla="val 9531"/>
            </a:avLst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5181741" y="4202013"/>
            <a:ext cx="127591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chat_messages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6597551" y="4049762"/>
            <a:ext cx="1403449" cy="399752"/>
          </a:xfrm>
          <a:prstGeom prst="roundRect">
            <a:avLst>
              <a:gd name="adj" fmla="val 9531"/>
            </a:avLst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6661240" y="4202013"/>
            <a:ext cx="127607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knowledge_chunks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7902029" y="4705499"/>
            <a:ext cx="1009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609451"/>
            <a:ext cx="69951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43000" y="825252"/>
            <a:ext cx="699516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134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Mekanisme RAG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43000" y="1290638"/>
            <a:ext cx="1583382" cy="606177"/>
          </a:xfrm>
          <a:prstGeom prst="roundRect">
            <a:avLst>
              <a:gd name="adj" fmla="val 6285"/>
            </a:avLst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78932" y="1468338"/>
            <a:ext cx="151151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178932" y="1652439"/>
            <a:ext cx="151151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50"/>
              </a:spcBef>
              <a:spcAft>
                <a:spcPts val="550"/>
              </a:spcAft>
              <a:buNone/>
            </a:pPr>
            <a:r>
              <a:rPr lang="en-US" sz="5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judul, konten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2764482" y="1517452"/>
            <a:ext cx="10049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901107" y="1290638"/>
            <a:ext cx="1583531" cy="606177"/>
          </a:xfrm>
          <a:prstGeom prst="roundRect">
            <a:avLst>
              <a:gd name="adj" fmla="val 6285"/>
            </a:avLst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937037" y="1468338"/>
            <a:ext cx="151167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Chunking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2937037" y="1652439"/>
            <a:ext cx="151167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50"/>
              </a:spcBef>
              <a:spcAft>
                <a:spcPts val="550"/>
              </a:spcAft>
              <a:buNone/>
            </a:pPr>
            <a:r>
              <a:rPr lang="en-US" sz="5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500c / 50 overlap</a:t>
            </a:r>
            <a:endParaRPr lang="en-US" sz="550" dirty="0"/>
          </a:p>
        </p:txBody>
      </p:sp>
      <p:sp>
        <p:nvSpPr>
          <p:cNvPr id="11" name="Text 9"/>
          <p:cNvSpPr/>
          <p:nvPr/>
        </p:nvSpPr>
        <p:spPr>
          <a:xfrm>
            <a:off x="4522738" y="1517452"/>
            <a:ext cx="10049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659362" y="1290638"/>
            <a:ext cx="1583382" cy="606177"/>
          </a:xfrm>
          <a:prstGeom prst="roundRect">
            <a:avLst>
              <a:gd name="adj" fmla="val 6285"/>
            </a:avLst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695294" y="1468338"/>
            <a:ext cx="151151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695294" y="1652439"/>
            <a:ext cx="151151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50"/>
              </a:spcBef>
              <a:spcAft>
                <a:spcPts val="550"/>
              </a:spcAft>
              <a:buNone/>
            </a:pPr>
            <a:r>
              <a:rPr lang="en-US" sz="5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text-embed-3-small</a:t>
            </a:r>
            <a:endParaRPr lang="en-US" sz="550" dirty="0"/>
          </a:p>
        </p:txBody>
      </p:sp>
      <p:sp>
        <p:nvSpPr>
          <p:cNvPr id="15" name="Text 13"/>
          <p:cNvSpPr/>
          <p:nvPr/>
        </p:nvSpPr>
        <p:spPr>
          <a:xfrm>
            <a:off x="6280845" y="1517452"/>
            <a:ext cx="10049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17469" y="1290638"/>
            <a:ext cx="1583531" cy="606177"/>
          </a:xfrm>
          <a:prstGeom prst="roundRect">
            <a:avLst>
              <a:gd name="adj" fmla="val 6285"/>
            </a:avLst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453399" y="1468338"/>
            <a:ext cx="151167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pgvector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6453399" y="1652439"/>
            <a:ext cx="151167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50"/>
              </a:spcBef>
              <a:spcAft>
                <a:spcPts val="550"/>
              </a:spcAft>
              <a:buNone/>
            </a:pPr>
            <a:r>
              <a:rPr lang="en-US" sz="5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1536 dims</a:t>
            </a:r>
            <a:endParaRPr lang="en-US" sz="550" dirty="0"/>
          </a:p>
        </p:txBody>
      </p:sp>
      <p:sp>
        <p:nvSpPr>
          <p:cNvPr id="19" name="Text 17"/>
          <p:cNvSpPr/>
          <p:nvPr/>
        </p:nvSpPr>
        <p:spPr>
          <a:xfrm>
            <a:off x="1143000" y="2125414"/>
            <a:ext cx="699516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1000"/>
              </a:spcAft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RETRIEVAL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143000" y="2347615"/>
            <a:ext cx="253901" cy="25301"/>
          </a:xfrm>
          <a:prstGeom prst="rect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143000" y="2487216"/>
            <a:ext cx="21243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Search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" y="2734866"/>
            <a:ext cx="212435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143000" y="3147566"/>
            <a:ext cx="2124355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Cosine similarity. Menangkap kesamaan semantik antar query dan chunk.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530501" y="2347615"/>
            <a:ext cx="253901" cy="25301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530501" y="2487216"/>
            <a:ext cx="21245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 Search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530501" y="2734866"/>
            <a:ext cx="2124507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530501" y="3147566"/>
            <a:ext cx="2124507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Full-text ts_rank. Efektif untuk istilah teknis keislaman.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5918150" y="2347615"/>
            <a:ext cx="253901" cy="25301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918150" y="2487216"/>
            <a:ext cx="21245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Boost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18150" y="2734866"/>
            <a:ext cx="2124507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+0.12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5918150" y="3147566"/>
            <a:ext cx="2124507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 untuk Al-Qur'an dan hadits. Kumulatif hingga +0.24.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1143000" y="3634532"/>
            <a:ext cx="685800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74420" y="3855095"/>
            <a:ext cx="699516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</a:t>
            </a:r>
            <a:pPr algn="ct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(vector × 0.75) + (keyword × 0.25) + domain_boost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7902029" y="4705499"/>
            <a:ext cx="1009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609451"/>
            <a:ext cx="69951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43000" y="825252"/>
            <a:ext cx="699516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134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Klasifikasi Topik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43000" y="1298228"/>
            <a:ext cx="253901" cy="25301"/>
          </a:xfrm>
          <a:prstGeom prst="rect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43000" y="1425029"/>
            <a:ext cx="212435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400"/>
              </a:spcAft>
              <a:buNone/>
            </a:pPr>
            <a:r>
              <a:rPr lang="en-US" sz="7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143000" y="1634579"/>
            <a:ext cx="21243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Regex Detection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3000" y="1856780"/>
            <a:ext cx="2124355" cy="4527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Pencocokan kata kunci deterministik. Islam keywords langsung ALLOWED, non-Islam langsung DENIED.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143000" y="2398365"/>
            <a:ext cx="212435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LLM calls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530501" y="1298228"/>
            <a:ext cx="253901" cy="25301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530501" y="1425029"/>
            <a:ext cx="212450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400"/>
              </a:spcAft>
              <a:buNone/>
            </a:pPr>
            <a:r>
              <a:rPr lang="en-US" sz="7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3530501" y="1634579"/>
            <a:ext cx="21245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Follow-Up Detection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530501" y="1856780"/>
            <a:ext cx="2124507" cy="301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Analisis konteks 6 pesan terakhir. Cek shared terms dan reference cue ("itu", "tersebut").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3530501" y="2247454"/>
            <a:ext cx="212450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Context-based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5918150" y="1298228"/>
            <a:ext cx="253901" cy="25301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918150" y="1425029"/>
            <a:ext cx="212450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400"/>
              </a:spcAft>
              <a:buNone/>
            </a:pPr>
            <a:r>
              <a:rPr lang="en-US" sz="7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3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918150" y="1634579"/>
            <a:ext cx="21245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Classifier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18150" y="1856780"/>
            <a:ext cx="2124507" cy="301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gpt-4.1-nano dengan output JSON. Multi-model fallback: nano → mini → gpt-4o-mini.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5918150" y="2247454"/>
            <a:ext cx="212450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+ fallback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1143000" y="2728466"/>
            <a:ext cx="6858000" cy="450652"/>
          </a:xfrm>
          <a:prstGeom prst="roundRect">
            <a:avLst>
              <a:gd name="adj" fmla="val 8454"/>
            </a:avLst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320701" y="2906167"/>
            <a:ext cx="66326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Flow:</a:t>
            </a:r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Message → Regex → Follow-up → LLM → </a:t>
            </a:r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ALLOWED</a:t>
            </a:r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DENIED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7902029" y="4705499"/>
            <a:ext cx="1009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609451"/>
            <a:ext cx="69951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43000" y="825252"/>
            <a:ext cx="699516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134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Alur Chat API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43000" y="1290638"/>
            <a:ext cx="1051173" cy="542627"/>
          </a:xfrm>
          <a:prstGeom prst="roundRect">
            <a:avLst>
              <a:gd name="adj" fmla="val 7021"/>
            </a:avLst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84254" y="1449288"/>
            <a:ext cx="96866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Validate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184254" y="1626989"/>
            <a:ext cx="968666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5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+ Zod</a:t>
            </a:r>
            <a:endParaRPr lang="en-US" sz="500" dirty="0"/>
          </a:p>
        </p:txBody>
      </p:sp>
      <p:sp>
        <p:nvSpPr>
          <p:cNvPr id="7" name="Text 5"/>
          <p:cNvSpPr/>
          <p:nvPr/>
        </p:nvSpPr>
        <p:spPr>
          <a:xfrm>
            <a:off x="2232273" y="1504801"/>
            <a:ext cx="3461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304306" y="1290638"/>
            <a:ext cx="1051322" cy="542627"/>
          </a:xfrm>
          <a:prstGeom prst="roundRect">
            <a:avLst>
              <a:gd name="adj" fmla="val 7021"/>
            </a:avLst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345558" y="1449288"/>
            <a:ext cx="96881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b="1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Register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2345558" y="1626989"/>
            <a:ext cx="968818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5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Participant</a:t>
            </a:r>
            <a:endParaRPr lang="en-US" sz="500" dirty="0"/>
          </a:p>
        </p:txBody>
      </p:sp>
      <p:sp>
        <p:nvSpPr>
          <p:cNvPr id="11" name="Text 9"/>
          <p:cNvSpPr/>
          <p:nvPr/>
        </p:nvSpPr>
        <p:spPr>
          <a:xfrm>
            <a:off x="3393728" y="1504801"/>
            <a:ext cx="3461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65761" y="1290638"/>
            <a:ext cx="1051173" cy="542627"/>
          </a:xfrm>
          <a:prstGeom prst="roundRect">
            <a:avLst>
              <a:gd name="adj" fmla="val 7021"/>
            </a:avLst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507014" y="1449288"/>
            <a:ext cx="96866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b="1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Classify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507014" y="1626989"/>
            <a:ext cx="968666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5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Layers</a:t>
            </a:r>
            <a:endParaRPr lang="en-US" sz="500" dirty="0"/>
          </a:p>
        </p:txBody>
      </p:sp>
      <p:sp>
        <p:nvSpPr>
          <p:cNvPr id="15" name="Text 13"/>
          <p:cNvSpPr/>
          <p:nvPr/>
        </p:nvSpPr>
        <p:spPr>
          <a:xfrm>
            <a:off x="4555034" y="1504801"/>
            <a:ext cx="3461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627066" y="1290638"/>
            <a:ext cx="1051322" cy="542627"/>
          </a:xfrm>
          <a:prstGeom prst="roundRect">
            <a:avLst>
              <a:gd name="adj" fmla="val 7021"/>
            </a:avLst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668319" y="1449288"/>
            <a:ext cx="96881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RAG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4668319" y="1626989"/>
            <a:ext cx="968818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5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</a:t>
            </a:r>
            <a:endParaRPr lang="en-US" sz="500" dirty="0"/>
          </a:p>
        </p:txBody>
      </p:sp>
      <p:sp>
        <p:nvSpPr>
          <p:cNvPr id="19" name="Text 17"/>
          <p:cNvSpPr/>
          <p:nvPr/>
        </p:nvSpPr>
        <p:spPr>
          <a:xfrm>
            <a:off x="5716488" y="1504801"/>
            <a:ext cx="3461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788521" y="1290638"/>
            <a:ext cx="1051173" cy="542627"/>
          </a:xfrm>
          <a:prstGeom prst="roundRect">
            <a:avLst>
              <a:gd name="adj" fmla="val 7021"/>
            </a:avLst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829775" y="1449288"/>
            <a:ext cx="96866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LLM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5829775" y="1626989"/>
            <a:ext cx="968666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5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GPT-4.1</a:t>
            </a:r>
            <a:endParaRPr lang="en-US" sz="500" dirty="0"/>
          </a:p>
        </p:txBody>
      </p:sp>
      <p:sp>
        <p:nvSpPr>
          <p:cNvPr id="23" name="Text 21"/>
          <p:cNvSpPr/>
          <p:nvPr/>
        </p:nvSpPr>
        <p:spPr>
          <a:xfrm>
            <a:off x="6877794" y="1504801"/>
            <a:ext cx="3461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949827" y="1290638"/>
            <a:ext cx="1051173" cy="542627"/>
          </a:xfrm>
          <a:prstGeom prst="roundRect">
            <a:avLst>
              <a:gd name="adj" fmla="val 7021"/>
            </a:avLst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991081" y="1449288"/>
            <a:ext cx="96866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Response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6991081" y="1626989"/>
            <a:ext cx="968666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5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</a:t>
            </a:r>
            <a:endParaRPr lang="en-US" sz="500" dirty="0"/>
          </a:p>
        </p:txBody>
      </p:sp>
      <p:sp>
        <p:nvSpPr>
          <p:cNvPr id="27" name="Text 25"/>
          <p:cNvSpPr/>
          <p:nvPr/>
        </p:nvSpPr>
        <p:spPr>
          <a:xfrm>
            <a:off x="1143000" y="2061865"/>
            <a:ext cx="699516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1000"/>
              </a:spcAft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1143000" y="2284065"/>
            <a:ext cx="253901" cy="25301"/>
          </a:xfrm>
          <a:prstGeom prst="rect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143000" y="2417266"/>
            <a:ext cx="153504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50"/>
              </a:spcBef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Analysis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143000" y="2620417"/>
            <a:ext cx="1535049" cy="426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GPT-4.1 menganalisis konten visual dari URL gambar sebagai konteks tambahan.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2927300" y="2284065"/>
            <a:ext cx="253901" cy="25301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2927300" y="2417266"/>
            <a:ext cx="153520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50"/>
              </a:spcBef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Depth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927300" y="2620417"/>
            <a:ext cx="1535201" cy="426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level: Ringkas, Standar, Mendalam dengan dalil dan perbandingan mazhab.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4711750" y="2284065"/>
            <a:ext cx="253901" cy="25301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711750" y="2417266"/>
            <a:ext cx="153504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50"/>
              </a:spcBef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Citation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711750" y="2620417"/>
            <a:ext cx="1535049" cy="426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Setiap jawaban menyertakan referensi dari knowledge base untuk verifikasi.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6496050" y="2284065"/>
            <a:ext cx="253901" cy="25301"/>
          </a:xfrm>
          <a:prstGeom prst="rect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496050" y="2417266"/>
            <a:ext cx="153504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50"/>
              </a:spcBef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Isolation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496050" y="2620417"/>
            <a:ext cx="1535049" cy="284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Riwayat terisolasi per pengguna. Memori konteks dikonfigurasi admin.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7902029" y="4705499"/>
            <a:ext cx="1009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609451"/>
            <a:ext cx="396392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43000" y="825252"/>
            <a:ext cx="3963924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134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Evaluasi Performa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143000" y="2522488"/>
            <a:ext cx="1193750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1062" y="1595438"/>
            <a:ext cx="1217625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31062" y="2252663"/>
            <a:ext cx="12176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2489150" y="2522488"/>
            <a:ext cx="1193899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77211" y="1595438"/>
            <a:ext cx="1217777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477211" y="2252663"/>
            <a:ext cx="121777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3835450" y="2522488"/>
            <a:ext cx="119375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23512" y="1595438"/>
            <a:ext cx="1217625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823512" y="2252663"/>
            <a:ext cx="12176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F1-Score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1143000" y="3916263"/>
            <a:ext cx="186690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24331" y="2989213"/>
            <a:ext cx="1904238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86.2%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124331" y="3646438"/>
            <a:ext cx="190423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Relevance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3162300" y="3916263"/>
            <a:ext cx="186690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43631" y="2989213"/>
            <a:ext cx="1904238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86.2%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143631" y="3646438"/>
            <a:ext cx="190423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Accuracy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5410200" y="1130201"/>
            <a:ext cx="264261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800"/>
              </a:spcAft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CATEGORY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5410200" y="2074366"/>
            <a:ext cx="259080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10200" y="1560165"/>
            <a:ext cx="81139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QURAN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410200" y="1775966"/>
            <a:ext cx="81139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6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"Surah pertama turun?"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7496919" y="1593503"/>
            <a:ext cx="51416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89.1%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10200" y="2826544"/>
            <a:ext cx="259080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10200" y="2312343"/>
            <a:ext cx="9495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FIQH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410200" y="2528143"/>
            <a:ext cx="94953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6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"Hukum bunuh perampok?"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7496919" y="2345680"/>
            <a:ext cx="51416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70.9%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10200" y="3064520"/>
            <a:ext cx="94088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AQIDAH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410200" y="3280321"/>
            <a:ext cx="94088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6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"Kenapa Islam sempurna?"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7496919" y="3097857"/>
            <a:ext cx="51416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98.6%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410200" y="3726359"/>
            <a:ext cx="264261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5410200" y="3910459"/>
            <a:ext cx="2642616" cy="231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Bef>
                <a:spcPts val="30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Perfect retrieval (P=R=F1=100%). Relevance-Accuracy correlation identical: zero hallucination detected.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7908727" y="4705499"/>
            <a:ext cx="9411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700" dirty="0"/>
          </a:p>
        </p:txBody>
      </p:sp>
      <p:graphicFrame>
        <p:nvGraphicFramePr>
          <p:cNvPr id="34" name="Chart 0" descr=""/>
          <p:cNvGraphicFramePr/>
          <p:nvPr/>
        </p:nvGraphicFramePr>
        <p:xfrm>
          <a:off x="1143000" y="4001988"/>
          <a:ext cx="3301901" cy="1143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609451"/>
            <a:ext cx="69951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43000" y="825252"/>
            <a:ext cx="699516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134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Metrics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43000" y="1298228"/>
            <a:ext cx="253901" cy="25301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43000" y="1437829"/>
            <a:ext cx="12332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" y="1660029"/>
            <a:ext cx="1233261" cy="284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Proporsi chunk relevan dari seluruh chunk yang diambil.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2555230" y="1298228"/>
            <a:ext cx="253901" cy="25301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555230" y="1437829"/>
            <a:ext cx="12332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555230" y="1660029"/>
            <a:ext cx="1233261" cy="284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Proporsi chunk relevan yang berhasil ditemukan.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967460" y="1298228"/>
            <a:ext cx="253901" cy="25301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967460" y="1437829"/>
            <a:ext cx="12332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F1-Score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967460" y="1660029"/>
            <a:ext cx="1233261" cy="284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Rata-rata harmonik Precision dan Recall.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379690" y="1298228"/>
            <a:ext cx="253901" cy="25301"/>
          </a:xfrm>
          <a:prstGeom prst="rect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379690" y="1437829"/>
            <a:ext cx="12332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Relevance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379690" y="1660029"/>
            <a:ext cx="1233261" cy="284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Skor kesesuaian jawaban dinilai LLM evaluator.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6791920" y="1298228"/>
            <a:ext cx="253901" cy="25301"/>
          </a:xfrm>
          <a:prstGeom prst="rect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791920" y="1437829"/>
            <a:ext cx="12332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91920" y="1660029"/>
            <a:ext cx="1233261" cy="284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Skor ketepatan factual dinilai LLM evaluator.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1143000" y="2215604"/>
            <a:ext cx="685800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43000" y="2347317"/>
            <a:ext cx="2201317" cy="656927"/>
          </a:xfrm>
          <a:prstGeom prst="roundRect">
            <a:avLst>
              <a:gd name="adj" fmla="val 5800"/>
            </a:avLst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224518" y="2525018"/>
            <a:ext cx="203828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6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1224518" y="2686943"/>
            <a:ext cx="203828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= TP / (TP + FP)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471267" y="2347317"/>
            <a:ext cx="2201466" cy="656927"/>
          </a:xfrm>
          <a:prstGeom prst="roundRect">
            <a:avLst>
              <a:gd name="adj" fmla="val 5800"/>
            </a:avLst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552783" y="2525018"/>
            <a:ext cx="203843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6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3552783" y="2686943"/>
            <a:ext cx="203843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= TP / (TP + FN)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799683" y="2347317"/>
            <a:ext cx="2201317" cy="656927"/>
          </a:xfrm>
          <a:prstGeom prst="roundRect">
            <a:avLst>
              <a:gd name="adj" fmla="val 5800"/>
            </a:avLst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881201" y="2525018"/>
            <a:ext cx="203828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6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F1-SCORE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5881201" y="2686943"/>
            <a:ext cx="203828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= 2PR / (P + R)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902029" y="4705499"/>
            <a:ext cx="1009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609451"/>
            <a:ext cx="33032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43000" y="825252"/>
            <a:ext cx="330327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134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Validasi Ahli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43000" y="1290638"/>
            <a:ext cx="3238500" cy="1875830"/>
          </a:xfrm>
          <a:prstGeom prst="roundRect">
            <a:avLst>
              <a:gd name="adj" fmla="val 4062"/>
            </a:avLst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1162050" y="1290638"/>
            <a:ext cx="0" cy="187583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84250" y="1595289"/>
            <a:ext cx="284998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Ustadz Negus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384250" y="1827014"/>
            <a:ext cx="2849981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Ketua Ranting Muhammadiyah Alasombo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384250" y="2049066"/>
            <a:ext cx="284998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Kepala Kesantrian PP Tahfidzul Qur'an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384250" y="2233166"/>
            <a:ext cx="284998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1000"/>
              </a:spcAft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Hafidz 30 Juz, Ahli Hadits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384250" y="2480816"/>
            <a:ext cx="284998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SANGAT LAYAK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84250" y="2804666"/>
            <a:ext cx="284998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pertanyaan fiqh diuji. Dalil sesuai nash asli. Zero error.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143000" y="3293418"/>
            <a:ext cx="330327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SARAN AHLI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143000" y="3477518"/>
            <a:ext cx="330327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Tambahkan referensi kitab 4 mazhab dan kitab tafsir.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762500" y="1130201"/>
            <a:ext cx="330327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800"/>
              </a:spcAft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4762500" y="2010817"/>
            <a:ext cx="323850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62500" y="1517303"/>
            <a:ext cx="33032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Asther (Ours)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762500" y="1733104"/>
            <a:ext cx="330327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Multi-domain · Hybrid RAG · KB CRUD · Built-in Eval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762500" y="2699445"/>
            <a:ext cx="323850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62500" y="2205930"/>
            <a:ext cx="33032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QuranGPT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762500" y="2421731"/>
            <a:ext cx="330327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Qur'an only · Static DB · Mobile · No CRUD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762500" y="2894558"/>
            <a:ext cx="33032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HadithGPT (Offline)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762500" y="3110359"/>
            <a:ext cx="330327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Hadith only · 40K static · Shut down (accuracy issues)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4762500" y="3561011"/>
            <a:ext cx="330327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ASTHER WINS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762500" y="3745111"/>
            <a:ext cx="3303270" cy="231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Bef>
                <a:spcPts val="30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platform with managed KB, hybrid RAG, 3-layer classification, and built-in evaluation.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7902029" y="4705499"/>
            <a:ext cx="1009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609451"/>
            <a:ext cx="33032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43000" y="825252"/>
            <a:ext cx="330327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134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Kesimpulan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43000" y="1290638"/>
            <a:ext cx="330327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RESULTS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143000" y="2120801"/>
            <a:ext cx="323850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646188"/>
            <a:ext cx="330327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Asther berhasil dikembangkan berbasis RAG dengan Next.js 15 + PostgreSQL + pgvector.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143000" y="2641402"/>
            <a:ext cx="323850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2309664"/>
            <a:ext cx="330327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Klasifikasi 3 lapisan efektif membatasi cakupan pada domain keislaman.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143000" y="3304877"/>
            <a:ext cx="323850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2830264"/>
            <a:ext cx="330327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RAG (75:25) menghasilkan </a:t>
            </a:r>
            <a:pPr algn="l" indent="0" marL="0">
              <a:lnSpc>
                <a:spcPts val="1125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= R = F1 = 100%</a:t>
            </a:r>
            <a:pPr algn="l" indent="0" marL="0">
              <a:lnSpc>
                <a:spcPts val="1125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dan </a:t>
            </a:r>
            <a:pPr algn="l" indent="0" marL="0">
              <a:lnSpc>
                <a:spcPts val="1125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86.2%</a:t>
            </a:r>
            <a:pPr algn="l" indent="0" marL="0">
              <a:lnSpc>
                <a:spcPts val="1125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143000" y="3825478"/>
            <a:ext cx="323850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3493740"/>
            <a:ext cx="330327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admin konfiguratif tanpa keahlian pemrograman.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143000" y="4014341"/>
            <a:ext cx="330327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Validasi ahli: </a:t>
            </a:r>
            <a:pPr algn="l" indent="0" marL="0">
              <a:lnSpc>
                <a:spcPts val="1125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sangat layak</a:t>
            </a:r>
            <a:pPr algn="l" indent="0" marL="0">
              <a:lnSpc>
                <a:spcPts val="1125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dalil sesuai nash asli.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762500" y="1130201"/>
            <a:ext cx="330327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600"/>
              </a:spcAft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WORK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4762500" y="1985516"/>
            <a:ext cx="323850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62500" y="1492002"/>
            <a:ext cx="33032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762500" y="1707803"/>
            <a:ext cx="330327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key encryption, rate limiting, CORS, audit trail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762500" y="2674144"/>
            <a:ext cx="323850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62500" y="2180630"/>
            <a:ext cx="33032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Enhancement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762500" y="2396430"/>
            <a:ext cx="330327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chunking, cross-encoder re-ranking, PDF upload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4762500" y="3362771"/>
            <a:ext cx="323850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62500" y="2869257"/>
            <a:ext cx="33032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762500" y="3085058"/>
            <a:ext cx="330327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Referensi kitab 4 mazhab dan kitab tafsir Al-Qur'an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762500" y="3557885"/>
            <a:ext cx="33032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762500" y="3773686"/>
            <a:ext cx="330327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Unit/E2E tests, analytics dashboard, token monitoring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7902029" y="4705499"/>
            <a:ext cx="1009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5301"/>
          </a:xfrm>
          <a:prstGeom prst="rect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5118199"/>
            <a:ext cx="9144000" cy="25301"/>
          </a:xfrm>
          <a:prstGeom prst="rect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990975" y="1709886"/>
            <a:ext cx="118529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368850" y="2103388"/>
            <a:ext cx="406301" cy="25301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532287" y="2306389"/>
            <a:ext cx="2120863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 Session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822204" y="3033415"/>
            <a:ext cx="152943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8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Muhammad Rakha Abimanyu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36343" y="3319165"/>
            <a:ext cx="15007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L200220011 — Informatika UMS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Sidang Pendadaran - Platform Chatbot Asther Berbasis RAG untuk Domain Keilmuan Islam</dc:title>
  <dc:subject>Sidang Pendadaran Informatika UMS</dc:subject>
  <dc:creator>Muhammad Rakha Abimanyu</dc:creator>
  <cp:lastModifiedBy>Muhammad Rakha Abimanyu</cp:lastModifiedBy>
  <cp:revision>1</cp:revision>
  <dcterms:created xsi:type="dcterms:W3CDTF">2026-05-04T16:47:55Z</dcterms:created>
  <dcterms:modified xsi:type="dcterms:W3CDTF">2026-05-04T16:47:55Z</dcterms:modified>
</cp:coreProperties>
</file>