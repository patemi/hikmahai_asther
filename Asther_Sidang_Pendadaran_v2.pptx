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800" b="0" i="0" u="none" strike="noStrike">
                <a:solidFill>
                  <a:srgbClr val="000000"/>
                </a:solidFill>
                <a:latin typeface="Arial"/>
              </a:rPr>
              <a:t>Skor Relevance/Accuracy per Kategori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&amp; Accuracy</c:v>
                </c:pt>
              </c:strCache>
            </c:strRef>
          </c:tx>
          <c:spPr>
            <a:solidFill>
              <a:srgbClr val="2D9C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9C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8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A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QURAN</c:v>
                  </c:pt>
                  <c:pt idx="1">
                    <c:v>FIQH</c:v>
                  </c:pt>
                  <c:pt idx="2">
                    <c:v>AQIDAH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89.1</c:v>
                </c:pt>
                <c:pt idx="1">
                  <c:v>70.9</c:v>
                </c:pt>
                <c:pt idx="2">
                  <c:v>98.6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Skor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0"/>
            <a:ext cx="9067800" cy="25301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97737" y="355550"/>
            <a:ext cx="1789063" cy="444401"/>
          </a:xfrm>
          <a:prstGeom prst="roundRect">
            <a:avLst>
              <a:gd name="adj" fmla="val 11431"/>
            </a:avLst>
          </a:prstGeom>
          <a:noFill/>
          <a:ln w="9525">
            <a:solidFill>
              <a:srgbClr val="2D9C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84963" y="530126"/>
            <a:ext cx="14429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SIDANG PENDADARAN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62000" y="1015901"/>
            <a:ext cx="634901" cy="38100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1231702"/>
            <a:ext cx="4491749" cy="123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Platform</a:t>
            </a:r>
            <a:endParaRPr lang="en-US" sz="2400" dirty="0"/>
          </a:p>
          <a:p>
            <a:pPr algn="l" indent="0" marL="0">
              <a:lnSpc>
                <a:spcPts val="324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Cerdas Berbasis RAG</a:t>
            </a:r>
            <a:endParaRPr lang="en-US" sz="2400" dirty="0"/>
          </a:p>
          <a:p>
            <a:pPr algn="l" indent="0" marL="0">
              <a:lnSpc>
                <a:spcPts val="324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Domain Keilmuan Islam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2592735"/>
            <a:ext cx="44917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127599"/>
            <a:ext cx="9144000" cy="1015901"/>
          </a:xfrm>
          <a:prstGeom prst="rect">
            <a:avLst/>
          </a:prstGeom>
          <a:solidFill>
            <a:srgbClr val="09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4378523"/>
            <a:ext cx="1801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2000" y="4648349"/>
            <a:ext cx="1801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50233" y="4419749"/>
            <a:ext cx="1536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Muhammadiyah Surakarta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150233" y="4603849"/>
            <a:ext cx="1536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Studi Informatika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39901" cy="514350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698450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04800" y="882551"/>
            <a:ext cx="202082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474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04800" y="1393478"/>
            <a:ext cx="381000" cy="25301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0" y="253901"/>
            <a:ext cx="1172617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0" y="258663"/>
            <a:ext cx="117261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15854" y="253901"/>
            <a:ext cx="0" cy="9397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8000" y="1188839"/>
            <a:ext cx="117261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7050" y="253901"/>
            <a:ext cx="0" cy="939701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8500" y="492026"/>
            <a:ext cx="836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38500" y="739676"/>
            <a:ext cx="8365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47567" y="253901"/>
            <a:ext cx="1172766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47567" y="258663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5570" y="253901"/>
            <a:ext cx="0" cy="9397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7567" y="1188839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6617" y="253901"/>
            <a:ext cx="0" cy="939701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8067" y="492026"/>
            <a:ext cx="836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38067" y="739676"/>
            <a:ext cx="836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&amp; Solusi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47283" y="253901"/>
            <a:ext cx="1172766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647283" y="258663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5286" y="253901"/>
            <a:ext cx="0" cy="9397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47283" y="1188839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6333" y="253901"/>
            <a:ext cx="0" cy="939701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7783" y="492026"/>
            <a:ext cx="836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37783" y="739676"/>
            <a:ext cx="836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Penelitian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48000" y="1269802"/>
            <a:ext cx="1172617" cy="825401"/>
          </a:xfrm>
          <a:prstGeom prst="roundRect">
            <a:avLst>
              <a:gd name="adj" fmla="val 9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48000" y="1274564"/>
            <a:ext cx="117261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5854" y="1269802"/>
            <a:ext cx="0" cy="8254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48000" y="2090440"/>
            <a:ext cx="117261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7050" y="1269802"/>
            <a:ext cx="0" cy="825401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8500" y="1507927"/>
            <a:ext cx="836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38500" y="1755577"/>
            <a:ext cx="8365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47567" y="1269802"/>
            <a:ext cx="1172766" cy="825401"/>
          </a:xfrm>
          <a:prstGeom prst="roundRect">
            <a:avLst>
              <a:gd name="adj" fmla="val 9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347567" y="1274564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5570" y="1269802"/>
            <a:ext cx="0" cy="8254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7567" y="2090440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66617" y="1269802"/>
            <a:ext cx="0" cy="825401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38067" y="1507927"/>
            <a:ext cx="836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38067" y="1755577"/>
            <a:ext cx="836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RAG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47283" y="1269802"/>
            <a:ext cx="1172766" cy="825401"/>
          </a:xfrm>
          <a:prstGeom prst="roundRect">
            <a:avLst>
              <a:gd name="adj" fmla="val 9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647283" y="1274564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5286" y="1269802"/>
            <a:ext cx="0" cy="8254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47283" y="2090440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6333" y="1269802"/>
            <a:ext cx="0" cy="825401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7783" y="1507927"/>
            <a:ext cx="836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37783" y="1755577"/>
            <a:ext cx="836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Topik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048000" y="2171402"/>
            <a:ext cx="1172617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048000" y="2176165"/>
            <a:ext cx="117261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15854" y="2171402"/>
            <a:ext cx="0" cy="9397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48000" y="3106341"/>
            <a:ext cx="117261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67050" y="2171402"/>
            <a:ext cx="0" cy="939701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38500" y="2409527"/>
            <a:ext cx="836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38500" y="2657177"/>
            <a:ext cx="8365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Chat API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347567" y="2171402"/>
            <a:ext cx="1172766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347567" y="2176165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15570" y="2171402"/>
            <a:ext cx="0" cy="9397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47567" y="3106341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66617" y="2171402"/>
            <a:ext cx="0" cy="939701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38067" y="2409527"/>
            <a:ext cx="836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38067" y="2657177"/>
            <a:ext cx="836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&amp; Performa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647283" y="2171402"/>
            <a:ext cx="1172766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5647283" y="2176165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15286" y="2171402"/>
            <a:ext cx="0" cy="9397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47283" y="3106341"/>
            <a:ext cx="1172766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66333" y="2171402"/>
            <a:ext cx="0" cy="939701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37783" y="2409527"/>
            <a:ext cx="836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837783" y="2657177"/>
            <a:ext cx="836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Saran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13931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863501"/>
            <a:ext cx="2641699" cy="4153049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  <a:effectLst>
            <a:outerShdw sx="100000" sy="100000" kx="0" ky="0" algn="bl" rotWithShape="0" blurRad="7620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8976" y="110162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8976" y="1304776"/>
            <a:ext cx="22606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Informasi Islam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8976" y="1549152"/>
            <a:ext cx="22606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 Indonesia membutuhkan akses cepat dan akurat terhadap pengetahuan keislaman. Sumber informasi yang tersebar dan tidak terverifikasi menjadi tantangan utama dalam era digital.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51150" y="863501"/>
            <a:ext cx="2641699" cy="4153049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  <a:effectLst>
            <a:outerShdw sx="100000" sy="100000" kx="0" ky="0" algn="bl" rotWithShape="0" blurRad="7620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63826" y="110162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63826" y="1304776"/>
            <a:ext cx="22606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Chatbot Umum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63826" y="1549152"/>
            <a:ext cx="22606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dan chatbot AI umum sering menghasilkan </a:t>
            </a:r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konten keislaman. Tidak ada mekanisme guardrail untuk menjamin akurasi dalil dan referensi.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96000" y="863501"/>
            <a:ext cx="2641699" cy="4153049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  <a:effectLst>
            <a:outerShdw sx="100000" sy="100000" kx="0" ky="0" algn="bl" rotWithShape="0" blurRad="7620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08675" y="110162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B7A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08675" y="1304776"/>
            <a:ext cx="22606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Teknologi RAG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8675" y="1549152"/>
            <a:ext cx="22606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memungkinkan LLM mengakses knowledge base terverifikasi untuk menghasilkan jawaban yang akurat dan terdokumentasi sumbernya.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25374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 &amp; Solusi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838200"/>
            <a:ext cx="1367582" cy="399752"/>
          </a:xfrm>
          <a:prstGeom prst="roundRect">
            <a:avLst>
              <a:gd name="adj" fmla="val 12708"/>
            </a:avLst>
          </a:prstGeom>
          <a:solidFill>
            <a:srgbClr val="FE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251" y="990451"/>
            <a:ext cx="11359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6301" y="1339453"/>
            <a:ext cx="4051399" cy="749201"/>
          </a:xfrm>
          <a:prstGeom prst="roundRect">
            <a:avLst>
              <a:gd name="adj" fmla="val 101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6301" y="1344216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2938" y="1339453"/>
            <a:ext cx="0" cy="7492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01" y="2083891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351" y="1339453"/>
            <a:ext cx="0" cy="749201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801" y="1571179"/>
            <a:ext cx="3772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mengembangkan platform chatbot yang menjawab pertanyaan keislaman secara akurat menggunakan knowledge base terverifikasi?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6301" y="2164854"/>
            <a:ext cx="4051399" cy="749201"/>
          </a:xfrm>
          <a:prstGeom prst="roundRect">
            <a:avLst>
              <a:gd name="adj" fmla="val 101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6301" y="2169616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2938" y="2164854"/>
            <a:ext cx="0" cy="7492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301" y="2909292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351" y="2164854"/>
            <a:ext cx="0" cy="749201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2396579"/>
            <a:ext cx="3772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mengimplementasikan klasifikasi topik agar chatbot hanya merespons domain keislaman?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6301" y="2990255"/>
            <a:ext cx="4051399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6301" y="2995017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2938" y="2990255"/>
            <a:ext cx="0" cy="606326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301" y="3591818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351" y="2990255"/>
            <a:ext cx="0" cy="606326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801" y="3221980"/>
            <a:ext cx="3772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mengukur performa retrieval dan kualitas jawaban sistem RAG?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86300" y="838200"/>
            <a:ext cx="1756321" cy="399752"/>
          </a:xfrm>
          <a:prstGeom prst="roundRect">
            <a:avLst>
              <a:gd name="adj" fmla="val 12708"/>
            </a:avLst>
          </a:prstGeom>
          <a:solidFill>
            <a:srgbClr val="ED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3250" y="990451"/>
            <a:ext cx="1532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YANG DITAWARKAN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86300" y="1339453"/>
            <a:ext cx="4051399" cy="749201"/>
          </a:xfrm>
          <a:prstGeom prst="roundRect">
            <a:avLst>
              <a:gd name="adj" fmla="val 101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6300" y="1344216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32937" y="1339453"/>
            <a:ext cx="0" cy="7492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083891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5350" y="1339453"/>
            <a:ext cx="0" cy="749201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6800" y="1571179"/>
            <a:ext cx="3772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chatbot cerdas berbasis RAG dengan hybrid search (vektor + keyword) untuk keilmuan Islam.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86300" y="2164854"/>
            <a:ext cx="4051399" cy="749201"/>
          </a:xfrm>
          <a:prstGeom prst="roundRect">
            <a:avLst>
              <a:gd name="adj" fmla="val 101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86300" y="2169616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2937" y="2164854"/>
            <a:ext cx="0" cy="749201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6300" y="2909292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5350" y="2164854"/>
            <a:ext cx="0" cy="749201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6800" y="2396579"/>
            <a:ext cx="3772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3 Lapisan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Regex, follow-up detection, dan LLM classifier untuk filter topik secara efisien.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86300" y="2990255"/>
            <a:ext cx="4051399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86300" y="2995017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937" y="2990255"/>
            <a:ext cx="0" cy="606326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6300" y="3591818"/>
            <a:ext cx="405139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5350" y="2990255"/>
            <a:ext cx="0" cy="606326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6800" y="3221980"/>
            <a:ext cx="3772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Terintegrasi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metrik Precision, Recall, F1-Score, Relevance, dan Accuracy.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16519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Penelitian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952500"/>
            <a:ext cx="2137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Tahapan Pengembangan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6301" y="1966466"/>
            <a:ext cx="2095202" cy="0"/>
          </a:xfrm>
          <a:prstGeom prst="line">
            <a:avLst/>
          </a:prstGeom>
          <a:noFill/>
          <a:ln w="9525">
            <a:solidFill>
              <a:srgbClr val="EEF0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301" y="12635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974" y="133335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1702" y="1365052"/>
            <a:ext cx="1774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Kebutuhan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1702" y="1580852"/>
            <a:ext cx="1774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domain keislaman dan fitur chatbot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06301" y="2775645"/>
            <a:ext cx="2095202" cy="0"/>
          </a:xfrm>
          <a:prstGeom prst="line">
            <a:avLst/>
          </a:prstGeom>
          <a:noFill/>
          <a:ln w="9525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301" y="20727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4974" y="214253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1702" y="2174230"/>
            <a:ext cx="1774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 Arsitektur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1702" y="2390031"/>
            <a:ext cx="1774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modular: Next.js + PostgreSQL + pgvector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06301" y="3584823"/>
            <a:ext cx="2095202" cy="0"/>
          </a:xfrm>
          <a:prstGeom prst="line">
            <a:avLst/>
          </a:prstGeom>
          <a:noFill/>
          <a:ln w="9525">
            <a:solidFill>
              <a:srgbClr val="EEF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301" y="288190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974" y="2951708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1702" y="2983409"/>
            <a:ext cx="1774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Sistem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1702" y="3199209"/>
            <a:ext cx="1774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backend, RAG, klasifikasi, dashboard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06301" y="369108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4974" y="376088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1702" y="3792587"/>
            <a:ext cx="1640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&amp; Evaluasi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1702" y="4008388"/>
            <a:ext cx="16408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RAG (P, R, F1) dan validasi ahli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730103" y="952500"/>
            <a:ext cx="2137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30103" y="1162050"/>
            <a:ext cx="2095351" cy="520303"/>
          </a:xfrm>
          <a:prstGeom prst="roundRect">
            <a:avLst>
              <a:gd name="adj" fmla="val 1464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857054" y="1374577"/>
            <a:ext cx="453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24338" y="1365052"/>
            <a:ext cx="483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30103" y="1745754"/>
            <a:ext cx="2095351" cy="520303"/>
          </a:xfrm>
          <a:prstGeom prst="roundRect">
            <a:avLst>
              <a:gd name="adj" fmla="val 1464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57054" y="1958280"/>
            <a:ext cx="3075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11811" y="1948755"/>
            <a:ext cx="7004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5.x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30103" y="2329458"/>
            <a:ext cx="2095351" cy="520303"/>
          </a:xfrm>
          <a:prstGeom prst="roundRect">
            <a:avLst>
              <a:gd name="adj" fmla="val 1464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857054" y="2541984"/>
            <a:ext cx="3881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569047" y="2532459"/>
            <a:ext cx="11520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30103" y="2913162"/>
            <a:ext cx="2095351" cy="520303"/>
          </a:xfrm>
          <a:prstGeom prst="roundRect">
            <a:avLst>
              <a:gd name="adj" fmla="val 1464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57054" y="3125688"/>
            <a:ext cx="3578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931146" y="3116163"/>
            <a:ext cx="78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GPT-4.1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30103" y="3496866"/>
            <a:ext cx="2095351" cy="520303"/>
          </a:xfrm>
          <a:prstGeom prst="roundRect">
            <a:avLst>
              <a:gd name="adj" fmla="val 1464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857054" y="3709392"/>
            <a:ext cx="211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106019" y="3699867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30103" y="4080570"/>
            <a:ext cx="2095351" cy="520303"/>
          </a:xfrm>
          <a:prstGeom prst="roundRect">
            <a:avLst>
              <a:gd name="adj" fmla="val 1464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57054" y="4293096"/>
            <a:ext cx="2822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863280" y="4283571"/>
            <a:ext cx="8519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13931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Penelitian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95250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— 3 Domain Keislaman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6301" y="1187351"/>
            <a:ext cx="2675483" cy="1116955"/>
          </a:xfrm>
          <a:prstGeom prst="roundRect">
            <a:avLst>
              <a:gd name="adj" fmla="val 9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6301" y="1206401"/>
            <a:ext cx="2675483" cy="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77021" y="1187351"/>
            <a:ext cx="0" cy="111695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301" y="2299543"/>
            <a:ext cx="267548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063" y="1187351"/>
            <a:ext cx="0" cy="111695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3527" y="1530102"/>
            <a:ext cx="23470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Al-Qur'an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3527" y="1761827"/>
            <a:ext cx="234705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Surah, ayat, tafsir, asbabun nuzul, dan pengetahuan dasar tentang Al-Qur'an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34184" y="1187351"/>
            <a:ext cx="2675632" cy="1116955"/>
          </a:xfrm>
          <a:prstGeom prst="roundRect">
            <a:avLst>
              <a:gd name="adj" fmla="val 9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4184" y="1206401"/>
            <a:ext cx="2675632" cy="0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5054" y="1187351"/>
            <a:ext cx="0" cy="111695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4184" y="2299543"/>
            <a:ext cx="2675632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38946" y="1187351"/>
            <a:ext cx="0" cy="111695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1410" y="1530102"/>
            <a:ext cx="2347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 &amp; Hukum Islam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1410" y="1761827"/>
            <a:ext cx="234720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Ibadah, muamalah, hukum keluarga, pandangan berbagai mazhab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062216" y="1187351"/>
            <a:ext cx="2675483" cy="1116955"/>
          </a:xfrm>
          <a:prstGeom prst="roundRect">
            <a:avLst>
              <a:gd name="adj" fmla="val 9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62216" y="1206401"/>
            <a:ext cx="2675483" cy="0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937" y="1187351"/>
            <a:ext cx="0" cy="111695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2216" y="2299543"/>
            <a:ext cx="267548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6979" y="1187351"/>
            <a:ext cx="0" cy="111695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9442" y="1530102"/>
            <a:ext cx="23470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 &amp; Sejarah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9442" y="1761827"/>
            <a:ext cx="234705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Dasar-dasar aqidah, sejarah peradaban Islam, sirah nabawiyah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6301" y="2456706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Pemrosesan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301" y="2691557"/>
            <a:ext cx="1987600" cy="1371451"/>
          </a:xfrm>
          <a:prstGeom prst="roundRect">
            <a:avLst>
              <a:gd name="adj" fmla="val 7408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5914" y="3123307"/>
            <a:ext cx="1768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15914" y="3726507"/>
            <a:ext cx="17683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 (char)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20851" y="2691557"/>
            <a:ext cx="1987748" cy="1371451"/>
          </a:xfrm>
          <a:prstGeom prst="roundRect">
            <a:avLst>
              <a:gd name="adj" fmla="val 7408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630463" y="3123307"/>
            <a:ext cx="17685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630463" y="3726507"/>
            <a:ext cx="17685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(char)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35550" y="2691557"/>
            <a:ext cx="1987600" cy="1371451"/>
          </a:xfrm>
          <a:prstGeom prst="roundRect">
            <a:avLst>
              <a:gd name="adj" fmla="val 7408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5163" y="3123307"/>
            <a:ext cx="1768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45163" y="3726507"/>
            <a:ext cx="17683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 Embedding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750100" y="2691557"/>
            <a:ext cx="1987600" cy="1371451"/>
          </a:xfrm>
          <a:prstGeom prst="roundRect">
            <a:avLst>
              <a:gd name="adj" fmla="val 7408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59713" y="3123307"/>
            <a:ext cx="1768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59713" y="3726507"/>
            <a:ext cx="17683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Database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16091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876151"/>
            <a:ext cx="52803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monolithic modular 4 lapisan — Next.js 15 App Router + React Server Components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06301" y="1072902"/>
            <a:ext cx="5176838" cy="828377"/>
          </a:xfrm>
          <a:prstGeom prst="roundRect">
            <a:avLst>
              <a:gd name="adj" fmla="val 9199"/>
            </a:avLst>
          </a:prstGeom>
          <a:solidFill>
            <a:srgbClr val="E6F4FB"/>
          </a:solidFill>
          <a:ln w="9525">
            <a:solidFill>
              <a:srgbClr val="B8DD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8226" y="1339453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8226" y="1587103"/>
            <a:ext cx="14248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pengguna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092077" y="1183928"/>
            <a:ext cx="1058912" cy="606326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94734" y="1358503"/>
            <a:ext cx="8535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94734" y="1542604"/>
            <a:ext cx="853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React/Next.js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227189" y="1183928"/>
            <a:ext cx="1058912" cy="606326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29846" y="1358503"/>
            <a:ext cx="8535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Client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29846" y="1542604"/>
            <a:ext cx="853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362301" y="1183928"/>
            <a:ext cx="1058912" cy="606326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64958" y="1358503"/>
            <a:ext cx="8535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464958" y="1542604"/>
            <a:ext cx="853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06301" y="1952030"/>
            <a:ext cx="5176838" cy="828377"/>
          </a:xfrm>
          <a:prstGeom prst="roundRect">
            <a:avLst>
              <a:gd name="adj" fmla="val 9199"/>
            </a:avLst>
          </a:prstGeom>
          <a:solidFill>
            <a:srgbClr val="FEF9EC"/>
          </a:solidFill>
          <a:ln w="9525">
            <a:solidFill>
              <a:srgbClr val="EDDF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8226" y="2218581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8226" y="2466231"/>
            <a:ext cx="14248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092077" y="2063055"/>
            <a:ext cx="1058912" cy="606326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94734" y="2237631"/>
            <a:ext cx="8535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194734" y="2421731"/>
            <a:ext cx="853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endpoint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227189" y="2063055"/>
            <a:ext cx="1058912" cy="606326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29846" y="2237631"/>
            <a:ext cx="8535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/api/knowledge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29846" y="2421731"/>
            <a:ext cx="853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362301" y="2063055"/>
            <a:ext cx="1058912" cy="606326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64958" y="2237631"/>
            <a:ext cx="8535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464958" y="2421731"/>
            <a:ext cx="853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Config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06301" y="2831157"/>
            <a:ext cx="5176838" cy="923627"/>
          </a:xfrm>
          <a:prstGeom prst="roundRect">
            <a:avLst>
              <a:gd name="adj" fmla="val 8250"/>
            </a:avLst>
          </a:prstGeom>
          <a:solidFill>
            <a:srgbClr val="EDF7ED"/>
          </a:solidFill>
          <a:ln w="9525">
            <a:solidFill>
              <a:srgbClr val="B5D8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8226" y="3145334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8226" y="3392984"/>
            <a:ext cx="14248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Layer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092077" y="2942183"/>
            <a:ext cx="775097" cy="701576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197572" y="3116759"/>
            <a:ext cx="564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Classifier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7572" y="3396109"/>
            <a:ext cx="5641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+ LLM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943374" y="2942183"/>
            <a:ext cx="775246" cy="701576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048868" y="3116759"/>
            <a:ext cx="564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048868" y="3300859"/>
            <a:ext cx="5642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794820" y="2942183"/>
            <a:ext cx="775097" cy="701576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900315" y="3116759"/>
            <a:ext cx="564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Client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900315" y="3396109"/>
            <a:ext cx="5641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Embed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646116" y="2942183"/>
            <a:ext cx="775097" cy="701576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51612" y="3116759"/>
            <a:ext cx="5641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51612" y="3300859"/>
            <a:ext cx="5641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+ JWT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06301" y="3805535"/>
            <a:ext cx="5176838" cy="726877"/>
          </a:xfrm>
          <a:prstGeom prst="roundRect">
            <a:avLst>
              <a:gd name="adj" fmla="val 10483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58701" y="4021336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8701" y="4268986"/>
            <a:ext cx="14248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2082552" y="3946773"/>
            <a:ext cx="639961" cy="444401"/>
          </a:xfrm>
          <a:prstGeom prst="roundRect">
            <a:avLst>
              <a:gd name="adj" fmla="val 11431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189399" y="4121348"/>
            <a:ext cx="426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98713" y="3946773"/>
            <a:ext cx="656927" cy="444401"/>
          </a:xfrm>
          <a:prstGeom prst="roundRect">
            <a:avLst>
              <a:gd name="adj" fmla="val 11431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905390" y="4121348"/>
            <a:ext cx="4435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app_config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531840" y="3946773"/>
            <a:ext cx="844600" cy="444401"/>
          </a:xfrm>
          <a:prstGeom prst="roundRect">
            <a:avLst>
              <a:gd name="adj" fmla="val 11431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636641" y="4121348"/>
            <a:ext cx="634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chat_messages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452640" y="3946773"/>
            <a:ext cx="978098" cy="444401"/>
          </a:xfrm>
          <a:prstGeom prst="roundRect">
            <a:avLst>
              <a:gd name="adj" fmla="val 11431"/>
            </a:avLst>
          </a:prstGeom>
          <a:solidFill>
            <a:srgbClr val="162236"/>
          </a:solidFill>
          <a:ln w="9525">
            <a:solidFill>
              <a:srgbClr val="1E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556105" y="4121348"/>
            <a:ext cx="7711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knowledge_chunks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15335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RAG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914251"/>
            <a:ext cx="8498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Pipeline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6301" y="1091952"/>
            <a:ext cx="1908274" cy="710803"/>
          </a:xfrm>
          <a:prstGeom prst="roundRect">
            <a:avLst>
              <a:gd name="adj" fmla="val 10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6301" y="1101477"/>
            <a:ext cx="1908274" cy="0"/>
          </a:xfrm>
          <a:prstGeom prst="line">
            <a:avLst/>
          </a:prstGeom>
          <a:noFill/>
          <a:ln w="19050">
            <a:solidFill>
              <a:srgbClr val="2D9C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09813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301" y="1797993"/>
            <a:ext cx="1908274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063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464" y="1314004"/>
            <a:ext cx="17199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0464" y="1529804"/>
            <a:ext cx="17199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Judul, konten, sumber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365325" y="1347341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7342" y="1091952"/>
            <a:ext cx="1908274" cy="710803"/>
          </a:xfrm>
          <a:prstGeom prst="roundRect">
            <a:avLst>
              <a:gd name="adj" fmla="val 10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47342" y="1101477"/>
            <a:ext cx="1908274" cy="0"/>
          </a:xfrm>
          <a:prstGeom prst="line">
            <a:avLst/>
          </a:prstGeom>
          <a:noFill/>
          <a:ln w="19050">
            <a:solidFill>
              <a:srgbClr val="D4A8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0854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7342" y="1797993"/>
            <a:ext cx="1908274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105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1506" y="1314004"/>
            <a:ext cx="17199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Chunking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41506" y="1529804"/>
            <a:ext cx="17199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char, 50 overlap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506367" y="1347341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8384" y="1091952"/>
            <a:ext cx="1908274" cy="710803"/>
          </a:xfrm>
          <a:prstGeom prst="roundRect">
            <a:avLst>
              <a:gd name="adj" fmla="val 10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88384" y="1101477"/>
            <a:ext cx="1908274" cy="0"/>
          </a:xfrm>
          <a:prstGeom prst="line">
            <a:avLst/>
          </a:prstGeom>
          <a:noFill/>
          <a:ln w="19050">
            <a:solidFill>
              <a:srgbClr val="1B7A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91895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8384" y="1797993"/>
            <a:ext cx="1908274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93146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547" y="1314004"/>
            <a:ext cx="17199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Embedding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2547" y="1529804"/>
            <a:ext cx="17199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text-embedding-3-small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647408" y="1347341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29425" y="1091952"/>
            <a:ext cx="1908274" cy="710803"/>
          </a:xfrm>
          <a:prstGeom prst="roundRect">
            <a:avLst>
              <a:gd name="adj" fmla="val 10720"/>
            </a:avLst>
          </a:prstGeom>
          <a:solidFill>
            <a:srgbClr val="0B1628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829425" y="1101477"/>
            <a:ext cx="1908274" cy="0"/>
          </a:xfrm>
          <a:prstGeom prst="line">
            <a:avLst/>
          </a:prstGeom>
          <a:noFill/>
          <a:ln w="19050">
            <a:solidFill>
              <a:srgbClr val="0B16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937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9425" y="1797993"/>
            <a:ext cx="1908274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4188" y="1091952"/>
            <a:ext cx="0" cy="7108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23589" y="1314004"/>
            <a:ext cx="17199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Storage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23589" y="1529804"/>
            <a:ext cx="17199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06301" y="1929705"/>
            <a:ext cx="8498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6301" y="2107406"/>
            <a:ext cx="2692450" cy="1332607"/>
          </a:xfrm>
          <a:prstGeom prst="roundRect">
            <a:avLst>
              <a:gd name="adj" fmla="val 57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06301" y="2126456"/>
            <a:ext cx="2692450" cy="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93988" y="2107406"/>
            <a:ext cx="0" cy="133260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6301" y="3435251"/>
            <a:ext cx="269245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063" y="2107406"/>
            <a:ext cx="0" cy="133260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226" y="2386757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8226" y="2697807"/>
            <a:ext cx="24159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8226" y="2989808"/>
            <a:ext cx="241597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antara query embedding dan chunk embedding. Menangkap kesamaan semantik.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225701" y="2107406"/>
            <a:ext cx="2692598" cy="1332607"/>
          </a:xfrm>
          <a:prstGeom prst="roundRect">
            <a:avLst>
              <a:gd name="adj" fmla="val 57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3225701" y="2126456"/>
            <a:ext cx="2692598" cy="0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13537" y="2107406"/>
            <a:ext cx="0" cy="133260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25701" y="3435251"/>
            <a:ext cx="2692598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30463" y="2107406"/>
            <a:ext cx="0" cy="133260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7626" y="2386757"/>
            <a:ext cx="2416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87626" y="2697807"/>
            <a:ext cx="2416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387626" y="2989808"/>
            <a:ext cx="2416123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full-text search via ts_rank. Efektif untuk istilah teknis keislaman.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045250" y="2107406"/>
            <a:ext cx="2692450" cy="1332607"/>
          </a:xfrm>
          <a:prstGeom prst="roundRect">
            <a:avLst>
              <a:gd name="adj" fmla="val 57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045250" y="2126456"/>
            <a:ext cx="2692450" cy="0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32937" y="2107406"/>
            <a:ext cx="0" cy="133260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45250" y="3435251"/>
            <a:ext cx="269245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50012" y="2107406"/>
            <a:ext cx="0" cy="133260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07175" y="2386757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Boosting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07175" y="2697807"/>
            <a:ext cx="24159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207175" y="2989808"/>
            <a:ext cx="241597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tambahan untuk konten Al-Qur'an dan hadits. Kumulatif hingga +0.24.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06301" y="3541514"/>
            <a:ext cx="8331398" cy="520303"/>
          </a:xfrm>
          <a:prstGeom prst="roundRect">
            <a:avLst>
              <a:gd name="adj" fmla="val 1464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30200" y="3744516"/>
            <a:ext cx="8083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skor_akhir</a:t>
            </a:r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(skor_vektor x 0.75) + (skor_keyword x 0.25) + domain_boost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2717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Topik — 3 Lapisan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901601"/>
            <a:ext cx="84980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Menjamin chatbot eksklusif merespons pertanyaan domain keislaman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06301" y="1098352"/>
            <a:ext cx="2692450" cy="1846957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6301" y="1117402"/>
            <a:ext cx="2692450" cy="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3988" y="1098352"/>
            <a:ext cx="0" cy="184695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301" y="2940546"/>
            <a:ext cx="269245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063" y="1098352"/>
            <a:ext cx="0" cy="184695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226" y="1263402"/>
            <a:ext cx="667196" cy="349151"/>
          </a:xfrm>
          <a:prstGeom prst="roundRect">
            <a:avLst>
              <a:gd name="adj" fmla="val 10912"/>
            </a:avLst>
          </a:prstGeom>
          <a:solidFill>
            <a:srgbClr val="E6F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9727" y="1390352"/>
            <a:ext cx="4734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8226" y="1803053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Regex Cepat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8226" y="2025253"/>
            <a:ext cx="241597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Pencocokan kata kunci secara deterministik. Kata kunci Islam (fiqh, shalat, zakat, tafsir, surah) langsung DIIZINKAN. Kata kunci non-Islam (crypto, anime, judi) langsung DITOLAK.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646908"/>
            <a:ext cx="24159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pemanggilan LLM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225701" y="1098352"/>
            <a:ext cx="2692598" cy="1846957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25701" y="1117402"/>
            <a:ext cx="2692598" cy="0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13537" y="1098352"/>
            <a:ext cx="0" cy="184695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5701" y="2940546"/>
            <a:ext cx="2692598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0463" y="1098352"/>
            <a:ext cx="0" cy="184695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7626" y="1263402"/>
            <a:ext cx="667196" cy="349151"/>
          </a:xfrm>
          <a:prstGeom prst="roundRect">
            <a:avLst>
              <a:gd name="adj" fmla="val 10912"/>
            </a:avLst>
          </a:prstGeom>
          <a:solidFill>
            <a:srgbClr val="FEF9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89127" y="1390352"/>
            <a:ext cx="4734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87626" y="1803053"/>
            <a:ext cx="2416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Follow-Up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7626" y="2025253"/>
            <a:ext cx="241612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konteks percakapan sebelumnya. Cek shared context terms dan reference cue ("itu", "tersebut", "yang tadi") di 6 pesan terakhir.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7626" y="2513707"/>
            <a:ext cx="24161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Berbasis riwayat chat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6045250" y="1098352"/>
            <a:ext cx="2692450" cy="1846957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45250" y="1117402"/>
            <a:ext cx="2692450" cy="0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937" y="1098352"/>
            <a:ext cx="0" cy="184695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5250" y="2940546"/>
            <a:ext cx="269245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50012" y="1098352"/>
            <a:ext cx="0" cy="184695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7175" y="1263402"/>
            <a:ext cx="667196" cy="349151"/>
          </a:xfrm>
          <a:prstGeom prst="roundRect">
            <a:avLst>
              <a:gd name="adj" fmla="val 10912"/>
            </a:avLst>
          </a:prstGeom>
          <a:solidFill>
            <a:srgbClr val="ED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08675" y="1390352"/>
            <a:ext cx="4734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07175" y="1803053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via LLM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07175" y="2025253"/>
            <a:ext cx="241597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gpt-4.1-nano menentukan topik dengan output JSON: allowed true/false + reason. Multi-model fallback: nano, mini, gpt-4o-mini.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07175" y="2513707"/>
            <a:ext cx="24159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+ fallback chain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06301" y="3046809"/>
            <a:ext cx="8331398" cy="475952"/>
          </a:xfrm>
          <a:prstGeom prst="roundRect">
            <a:avLst>
              <a:gd name="adj" fmla="val 16010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4002" y="3237161"/>
            <a:ext cx="81355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Alur: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Masuk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Regex (cepat) → Follow-up (konteks) → LLM (akurat) →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DIIZINKAN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DITOLAK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2454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Pemrosesan Chat API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914251"/>
            <a:ext cx="8498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/api/chat — 6 Tahap Pemrosesan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6301" y="1091952"/>
            <a:ext cx="1233785" cy="599777"/>
          </a:xfrm>
          <a:prstGeom prst="roundRect">
            <a:avLst>
              <a:gd name="adj" fmla="val 10587"/>
            </a:avLst>
          </a:prstGeom>
          <a:solidFill>
            <a:srgbClr val="0B1628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1402" y="1279178"/>
            <a:ext cx="1083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Validasi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1402" y="1463278"/>
            <a:ext cx="10835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Zod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1678186" y="1310878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5675" y="1091952"/>
            <a:ext cx="1233934" cy="599777"/>
          </a:xfrm>
          <a:prstGeom prst="roundRect">
            <a:avLst>
              <a:gd name="adj" fmla="val 10587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00775" y="1279178"/>
            <a:ext cx="10837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Registrasi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00775" y="1463278"/>
            <a:ext cx="1083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Partisipan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3097709" y="1310878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5197" y="1091952"/>
            <a:ext cx="1233934" cy="599777"/>
          </a:xfrm>
          <a:prstGeom prst="roundRect">
            <a:avLst>
              <a:gd name="adj" fmla="val 10587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20297" y="1279178"/>
            <a:ext cx="10837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Klasifikasi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20297" y="1463278"/>
            <a:ext cx="1083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Lapisan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4517231" y="1310878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4720" y="1091952"/>
            <a:ext cx="1233934" cy="599777"/>
          </a:xfrm>
          <a:prstGeom prst="roundRect">
            <a:avLst>
              <a:gd name="adj" fmla="val 10587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9820" y="1279178"/>
            <a:ext cx="10837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39820" y="1463278"/>
            <a:ext cx="1083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5936754" y="1310878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4243" y="1091952"/>
            <a:ext cx="1233934" cy="599777"/>
          </a:xfrm>
          <a:prstGeom prst="roundRect">
            <a:avLst>
              <a:gd name="adj" fmla="val 10587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59343" y="1279178"/>
            <a:ext cx="10837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LLM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59343" y="1463278"/>
            <a:ext cx="1083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7356277" y="1310878"/>
            <a:ext cx="111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03765" y="1091952"/>
            <a:ext cx="1233934" cy="599777"/>
          </a:xfrm>
          <a:prstGeom prst="roundRect">
            <a:avLst>
              <a:gd name="adj" fmla="val 10587"/>
            </a:avLst>
          </a:prstGeom>
          <a:solidFill>
            <a:srgbClr val="0B1628"/>
          </a:solidFill>
          <a:ln w="9525">
            <a:solidFill>
              <a:srgbClr val="E8EC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78865" y="1279178"/>
            <a:ext cx="10837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Response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578865" y="1463278"/>
            <a:ext cx="1083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06301" y="1818680"/>
            <a:ext cx="8498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6301" y="1996380"/>
            <a:ext cx="1987600" cy="1073497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6301" y="2005905"/>
            <a:ext cx="1987600" cy="0"/>
          </a:xfrm>
          <a:prstGeom prst="line">
            <a:avLst/>
          </a:prstGeom>
          <a:noFill/>
          <a:ln w="19050">
            <a:solidFill>
              <a:srgbClr val="2D9C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89138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301" y="3065115"/>
            <a:ext cx="198760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063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776" y="214238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42776" y="2307282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Gambar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2776" y="2504033"/>
            <a:ext cx="1748942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menganalisis konten visual dari URL gambar sebagai konteks tambahan untuk jawaban.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520851" y="1996380"/>
            <a:ext cx="1987748" cy="1073497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520851" y="2005905"/>
            <a:ext cx="1987748" cy="0"/>
          </a:xfrm>
          <a:prstGeom prst="line">
            <a:avLst/>
          </a:prstGeom>
          <a:noFill/>
          <a:ln w="19050">
            <a:solidFill>
              <a:srgbClr val="D4A8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3837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20851" y="3065115"/>
            <a:ext cx="1987748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25613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7326" y="214238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657326" y="2307282"/>
            <a:ext cx="17490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Kedalaman Respons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57326" y="2504033"/>
            <a:ext cx="174909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level: Ringkas (inti), Standar (contoh), Mendalam (dalil + perbandingan mazhab).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635550" y="1996380"/>
            <a:ext cx="1987600" cy="1073497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635550" y="2005905"/>
            <a:ext cx="1987600" cy="0"/>
          </a:xfrm>
          <a:prstGeom prst="line">
            <a:avLst/>
          </a:prstGeom>
          <a:noFill/>
          <a:ln w="19050">
            <a:solidFill>
              <a:srgbClr val="1B7A4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18387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35550" y="3065115"/>
            <a:ext cx="198760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40312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2025" y="214238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B7A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72025" y="2307282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Sitasi Sumber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72025" y="2504033"/>
            <a:ext cx="174894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 menyertakan referensi dari knowledge base untuk verifikasi.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750100" y="1996380"/>
            <a:ext cx="1987600" cy="1073497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750100" y="2005905"/>
            <a:ext cx="1987600" cy="0"/>
          </a:xfrm>
          <a:prstGeom prst="line">
            <a:avLst/>
          </a:prstGeom>
          <a:noFill/>
          <a:ln w="19050">
            <a:solidFill>
              <a:srgbClr val="7B3F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32937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50100" y="3065115"/>
            <a:ext cx="198760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54862" y="1996380"/>
            <a:ext cx="0" cy="107349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86575" y="214238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7B3F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886575" y="2307282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Isolation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86575" y="2504033"/>
            <a:ext cx="174894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terisolasi per pengguna. Konteks memori dapat dikonfigurasi.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237574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&amp; Performa RAG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914251"/>
            <a:ext cx="49535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Agregat — 3 Kueri Uji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6301" y="1104751"/>
            <a:ext cx="1567904" cy="1158627"/>
          </a:xfrm>
          <a:prstGeom prst="roundRect">
            <a:avLst>
              <a:gd name="adj" fmla="val 65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6301" y="1123801"/>
            <a:ext cx="1567904" cy="0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9443" y="1104751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301" y="2258616"/>
            <a:ext cx="1567904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063" y="1104751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061" y="1472952"/>
            <a:ext cx="14243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8061" y="1968252"/>
            <a:ext cx="14243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050405" y="1104751"/>
            <a:ext cx="1568053" cy="1158627"/>
          </a:xfrm>
          <a:prstGeom prst="roundRect">
            <a:avLst>
              <a:gd name="adj" fmla="val 65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050405" y="1123801"/>
            <a:ext cx="1568053" cy="0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3696" y="1104751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0405" y="2258616"/>
            <a:ext cx="156805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5168" y="1104751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2164" y="1472952"/>
            <a:ext cx="1424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22164" y="1968252"/>
            <a:ext cx="14245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94658" y="1104751"/>
            <a:ext cx="1568053" cy="1158627"/>
          </a:xfrm>
          <a:prstGeom prst="roundRect">
            <a:avLst>
              <a:gd name="adj" fmla="val 65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694658" y="1123801"/>
            <a:ext cx="1568053" cy="0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949" y="1104751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94658" y="2258616"/>
            <a:ext cx="156805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9421" y="1104751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6417" y="1472952"/>
            <a:ext cx="1424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66417" y="1968252"/>
            <a:ext cx="14245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6301" y="2339578"/>
            <a:ext cx="2390031" cy="1158627"/>
          </a:xfrm>
          <a:prstGeom prst="roundRect">
            <a:avLst>
              <a:gd name="adj" fmla="val 65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06301" y="2358628"/>
            <a:ext cx="2390031" cy="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91569" y="2339578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301" y="3493443"/>
            <a:ext cx="239003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063" y="2339578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840" y="2707779"/>
            <a:ext cx="2262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9840" y="3203079"/>
            <a:ext cx="22629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Relevance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72532" y="2339578"/>
            <a:ext cx="2390180" cy="1158627"/>
          </a:xfrm>
          <a:prstGeom prst="roundRect">
            <a:avLst>
              <a:gd name="adj" fmla="val 65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872532" y="2358628"/>
            <a:ext cx="2390180" cy="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949" y="2339578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2532" y="3493443"/>
            <a:ext cx="239018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7294" y="2339578"/>
            <a:ext cx="0" cy="1158627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36069" y="2707779"/>
            <a:ext cx="2263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936069" y="3203079"/>
            <a:ext cx="22631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Accuracy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465862" y="914251"/>
            <a:ext cx="33023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Per Kategori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65862" y="1104751"/>
            <a:ext cx="3237607" cy="701278"/>
          </a:xfrm>
          <a:prstGeom prst="roundRect">
            <a:avLst>
              <a:gd name="adj" fmla="val 108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465862" y="1109514"/>
            <a:ext cx="323760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98706" y="1104751"/>
            <a:ext cx="0" cy="701278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5862" y="1801267"/>
            <a:ext cx="323760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4912" y="1104751"/>
            <a:ext cx="0" cy="701278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30912" y="1317278"/>
            <a:ext cx="8113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30912" y="1533079"/>
            <a:ext cx="8113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"Surah pertama turun?"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8170962" y="1379190"/>
            <a:ext cx="403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89.1%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65862" y="1869430"/>
            <a:ext cx="3237607" cy="701278"/>
          </a:xfrm>
          <a:prstGeom prst="roundRect">
            <a:avLst>
              <a:gd name="adj" fmla="val 108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65862" y="1874193"/>
            <a:ext cx="323760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98706" y="1869430"/>
            <a:ext cx="0" cy="701278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65862" y="2565946"/>
            <a:ext cx="323760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4912" y="1869430"/>
            <a:ext cx="0" cy="70127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30912" y="2081957"/>
            <a:ext cx="11222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30912" y="2297757"/>
            <a:ext cx="11222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"Hukum membunuh perampok?"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8170962" y="2143869"/>
            <a:ext cx="403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65862" y="2634109"/>
            <a:ext cx="3237607" cy="701278"/>
          </a:xfrm>
          <a:prstGeom prst="roundRect">
            <a:avLst>
              <a:gd name="adj" fmla="val 108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5465862" y="2638871"/>
            <a:ext cx="323760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98706" y="2634109"/>
            <a:ext cx="0" cy="701278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65862" y="3330625"/>
            <a:ext cx="3237607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84912" y="2634109"/>
            <a:ext cx="0" cy="701278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30912" y="2846636"/>
            <a:ext cx="9408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30912" y="3062436"/>
            <a:ext cx="9408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"Kenapa Islam sempurna?"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8170962" y="2908548"/>
            <a:ext cx="403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65862" y="3398788"/>
            <a:ext cx="3237607" cy="752624"/>
          </a:xfrm>
          <a:prstGeom prst="roundRect">
            <a:avLst>
              <a:gd name="adj" fmla="val 10125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92812" y="3589139"/>
            <a:ext cx="30433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 Utama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592812" y="3760589"/>
            <a:ext cx="3043380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sempurna (P=R=F1=100%). Korelasi Relevance-Accuracy identik menunjukkan tidak ada hallucination terdeteksi.</a:t>
            </a:r>
            <a:endParaRPr lang="en-US" sz="600" dirty="0"/>
          </a:p>
        </p:txBody>
      </p:sp>
      <p:graphicFrame>
        <p:nvGraphicFramePr>
          <p:cNvPr id="70" name="Chart 0" descr=""/>
          <p:cNvGraphicFramePr/>
          <p:nvPr/>
        </p:nvGraphicFramePr>
        <p:xfrm>
          <a:off x="406301" y="3574405"/>
          <a:ext cx="3682901" cy="1460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17169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939701"/>
            <a:ext cx="8498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Metrik Evaluasi RAG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6301" y="1155502"/>
            <a:ext cx="1564630" cy="118824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6301" y="1174552"/>
            <a:ext cx="1564630" cy="0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6168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301" y="2338983"/>
            <a:ext cx="156463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063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226" y="1460302"/>
            <a:ext cx="1265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8226" y="1682502"/>
            <a:ext cx="126559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dari seluruh chunk yang diambil.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8226" y="2019895"/>
            <a:ext cx="12655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"Seberapa tepat retrieval?"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097881" y="1155502"/>
            <a:ext cx="1564779" cy="118824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097881" y="1174552"/>
            <a:ext cx="1564779" cy="0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898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97881" y="2338983"/>
            <a:ext cx="156477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2644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59806" y="1460302"/>
            <a:ext cx="1265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59806" y="1682502"/>
            <a:ext cx="126574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yang berhasil ditemukan.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259806" y="2019895"/>
            <a:ext cx="12657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"Seberapa lengkap retrieval?"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789611" y="1155502"/>
            <a:ext cx="1564630" cy="118824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789611" y="1174552"/>
            <a:ext cx="1564630" cy="0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478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9611" y="2338983"/>
            <a:ext cx="156463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373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1536" y="1460302"/>
            <a:ext cx="1265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51536" y="1682502"/>
            <a:ext cx="126559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harmonik Precision dan Recall.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951536" y="2019895"/>
            <a:ext cx="12655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"Keseimbangan P dan R"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481191" y="1155502"/>
            <a:ext cx="1564779" cy="118824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481191" y="1174552"/>
            <a:ext cx="1564779" cy="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1207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1191" y="2338983"/>
            <a:ext cx="156477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5954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3116" y="1460302"/>
            <a:ext cx="1265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43116" y="1682502"/>
            <a:ext cx="126574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kesesuaian jawaban (dinilai LLM).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43116" y="2019895"/>
            <a:ext cx="12657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"Seberapa sesuai?"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172920" y="1155502"/>
            <a:ext cx="1564779" cy="118824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7172920" y="1174552"/>
            <a:ext cx="1564779" cy="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32937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72920" y="2338983"/>
            <a:ext cx="1564779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77683" y="1155502"/>
            <a:ext cx="0" cy="118824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4845" y="1460302"/>
            <a:ext cx="1265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34845" y="1682502"/>
            <a:ext cx="126574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ketepatan jawaban (dinilai LLM).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334845" y="2019895"/>
            <a:ext cx="12657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"Seberapa benar?"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06301" y="2470696"/>
            <a:ext cx="2709416" cy="739676"/>
          </a:xfrm>
          <a:prstGeom prst="roundRect">
            <a:avLst>
              <a:gd name="adj" fmla="val 10302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08696" y="2673846"/>
            <a:ext cx="25046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08696" y="2835771"/>
            <a:ext cx="2504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TP / (TP + FP)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17218" y="2470696"/>
            <a:ext cx="2709565" cy="739676"/>
          </a:xfrm>
          <a:prstGeom prst="roundRect">
            <a:avLst>
              <a:gd name="adj" fmla="val 10302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319611" y="2673846"/>
            <a:ext cx="25047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319611" y="2835771"/>
            <a:ext cx="250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TP / (TP + FN)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28283" y="2470696"/>
            <a:ext cx="2709416" cy="739676"/>
          </a:xfrm>
          <a:prstGeom prst="roundRect">
            <a:avLst>
              <a:gd name="adj" fmla="val 10302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130678" y="2673846"/>
            <a:ext cx="25046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130678" y="2835771"/>
            <a:ext cx="2504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2(P x R) / (P + R)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26814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 &amp; Perbandingan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812750"/>
            <a:ext cx="914251" cy="314325"/>
          </a:xfrm>
          <a:prstGeom prst="roundRect">
            <a:avLst>
              <a:gd name="adj" fmla="val 12121"/>
            </a:avLst>
          </a:prstGeom>
          <a:solidFill>
            <a:srgbClr val="FEF9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802" y="927050"/>
            <a:ext cx="725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06301" y="1203275"/>
            <a:ext cx="3763863" cy="1958280"/>
          </a:xfrm>
          <a:prstGeom prst="roundRect">
            <a:avLst>
              <a:gd name="adj" fmla="val 5188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5351" y="1203275"/>
            <a:ext cx="0" cy="1958280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102" y="1495276"/>
            <a:ext cx="3437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Ustadz Negus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102" y="1711077"/>
            <a:ext cx="34377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Ranting Muhammadiyah Alasombo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22102" y="1917353"/>
            <a:ext cx="34377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Kesantrian PP Tahfidzul Qur'an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22102" y="2095054"/>
            <a:ext cx="34377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800"/>
              </a:spcAft>
              <a:buNone/>
            </a:pPr>
            <a:r>
              <a:rPr lang="en-US" sz="65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Hafidz Al-Qur'an 30 Juz, Ahli Hadits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22102" y="2291804"/>
            <a:ext cx="3370362" cy="692051"/>
          </a:xfrm>
          <a:prstGeom prst="roundRect">
            <a:avLst>
              <a:gd name="adj" fmla="val 7340"/>
            </a:avLst>
          </a:prstGeom>
          <a:solidFill>
            <a:srgbClr val="122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9052" y="2482304"/>
            <a:ext cx="317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Hasil: SANGAT LAYAK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052" y="2729954"/>
            <a:ext cx="31787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pertanyaan fiqh diuji. Dalil sesuai nash asli. Tidak ada kesalahan.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06301" y="3263057"/>
            <a:ext cx="3763863" cy="653653"/>
          </a:xfrm>
          <a:prstGeom prst="roundRect">
            <a:avLst>
              <a:gd name="adj" fmla="val 11658"/>
            </a:avLst>
          </a:prstGeom>
          <a:solidFill>
            <a:srgbClr val="ED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25351" y="3263057"/>
            <a:ext cx="0" cy="653653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3453408"/>
            <a:ext cx="34893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Ahli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6801" y="3637508"/>
            <a:ext cx="34893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Tambahkan referensi kitab 4 mazhab dan kitab tafsir Al-Qur'an.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398764" y="812750"/>
            <a:ext cx="977801" cy="314325"/>
          </a:xfrm>
          <a:prstGeom prst="roundRect">
            <a:avLst>
              <a:gd name="adj" fmla="val 12121"/>
            </a:avLst>
          </a:prstGeom>
          <a:solidFill>
            <a:srgbClr val="E6F4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00265" y="927050"/>
            <a:ext cx="7902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398764" y="1203275"/>
            <a:ext cx="3763863" cy="763042"/>
          </a:xfrm>
          <a:prstGeom prst="roundRect">
            <a:avLst>
              <a:gd name="adj" fmla="val 99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98764" y="1208038"/>
            <a:ext cx="376386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7865" y="1203275"/>
            <a:ext cx="0" cy="763042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98764" y="1961555"/>
            <a:ext cx="376386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17814" y="1203275"/>
            <a:ext cx="0" cy="763042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9264" y="1428601"/>
            <a:ext cx="34796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Asther (Kami)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89264" y="1644402"/>
            <a:ext cx="347966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 Islam, Hybrid RAG, KB CRUD, Dashboard admin, REST API, Evaluasi bawaan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398764" y="2029718"/>
            <a:ext cx="3763863" cy="763042"/>
          </a:xfrm>
          <a:prstGeom prst="roundRect">
            <a:avLst>
              <a:gd name="adj" fmla="val 99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398764" y="2034480"/>
            <a:ext cx="376386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7865" y="2029718"/>
            <a:ext cx="0" cy="763042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8764" y="2787997"/>
            <a:ext cx="376386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17814" y="2029718"/>
            <a:ext cx="0" cy="763042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9264" y="2255044"/>
            <a:ext cx="34796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QuranGPT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89264" y="2470845"/>
            <a:ext cx="347966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Al-Qur'an saja, Database statis, Ada mobile app, Multi-terjemahan, Tanpa CRUD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398764" y="2856161"/>
            <a:ext cx="3763863" cy="763042"/>
          </a:xfrm>
          <a:prstGeom prst="roundRect">
            <a:avLst>
              <a:gd name="adj" fmla="val 99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398764" y="2860923"/>
            <a:ext cx="376386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57865" y="2856161"/>
            <a:ext cx="0" cy="763042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98764" y="3614440"/>
            <a:ext cx="3763863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17814" y="2856161"/>
            <a:ext cx="0" cy="76304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9264" y="3081486"/>
            <a:ext cx="34796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HadithGPT (Offline)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89264" y="3297287"/>
            <a:ext cx="347966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Hadits saja, 40.000 hadits statis, Dinonaktifkan karena isu akurasi AI keislaman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398764" y="3682603"/>
            <a:ext cx="3763863" cy="766614"/>
          </a:xfrm>
          <a:prstGeom prst="roundRect">
            <a:avLst>
              <a:gd name="adj" fmla="val 9940"/>
            </a:avLst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51164" y="3872954"/>
            <a:ext cx="3528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 Asther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51164" y="4050655"/>
            <a:ext cx="3528245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Satu-satunya platform dengan knowledge base terkelola, hybrid RAG, klasifikasi 3 lapisan, dan evaluasi bawaan.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06301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381000"/>
            <a:ext cx="188981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Saran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60350"/>
            <a:ext cx="9144000" cy="25301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812750"/>
            <a:ext cx="833884" cy="314325"/>
          </a:xfrm>
          <a:prstGeom prst="roundRect">
            <a:avLst>
              <a:gd name="adj" fmla="val 12121"/>
            </a:avLst>
          </a:prstGeom>
          <a:solidFill>
            <a:srgbClr val="ED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802" y="927050"/>
            <a:ext cx="643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06301" y="1203275"/>
            <a:ext cx="3516511" cy="648295"/>
          </a:xfrm>
          <a:prstGeom prst="roundRect">
            <a:avLst>
              <a:gd name="adj" fmla="val 1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6301" y="1208038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8049" y="1203275"/>
            <a:ext cx="0" cy="64829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01" y="1846808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351" y="1203275"/>
            <a:ext cx="0" cy="648295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801" y="1403152"/>
            <a:ext cx="32273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 berhasil dikembangkan berbasis RAG dengan Next.js 15 + PostgreSQL + pgvector.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301" y="1914971"/>
            <a:ext cx="3516511" cy="648295"/>
          </a:xfrm>
          <a:prstGeom prst="roundRect">
            <a:avLst>
              <a:gd name="adj" fmla="val 1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6301" y="1919734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18049" y="1914971"/>
            <a:ext cx="0" cy="64829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301" y="2558504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351" y="1914971"/>
            <a:ext cx="0" cy="648295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2114848"/>
            <a:ext cx="32273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3 lapisan (Regex, Follow-up, LLM) efektif membatasi cakupan domain keislaman.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06301" y="2626668"/>
            <a:ext cx="3516511" cy="648295"/>
          </a:xfrm>
          <a:prstGeom prst="roundRect">
            <a:avLst>
              <a:gd name="adj" fmla="val 1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6301" y="2631430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18049" y="2626668"/>
            <a:ext cx="0" cy="64829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301" y="3270200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351" y="2626668"/>
            <a:ext cx="0" cy="648295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801" y="2826544"/>
            <a:ext cx="32273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(75:25 vektor:keyword) + domain boosting menghasilkan P=R=F1=100%, Avg Accuracy 86.2%.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6301" y="3338364"/>
            <a:ext cx="3516511" cy="648295"/>
          </a:xfrm>
          <a:prstGeom prst="roundRect">
            <a:avLst>
              <a:gd name="adj" fmla="val 1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06301" y="3343126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18049" y="3338364"/>
            <a:ext cx="0" cy="648295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301" y="3981896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351" y="3338364"/>
            <a:ext cx="0" cy="648295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801" y="3538240"/>
            <a:ext cx="32273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 konfiguratif memungkinkan pengelolaan tanpa keahlian pemrograman.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6301" y="4050060"/>
            <a:ext cx="3516511" cy="524024"/>
          </a:xfrm>
          <a:prstGeom prst="roundRect">
            <a:avLst>
              <a:gd name="adj" fmla="val 145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06301" y="4054822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18049" y="4050060"/>
            <a:ext cx="0" cy="524024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301" y="4569321"/>
            <a:ext cx="3516511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351" y="4050060"/>
            <a:ext cx="0" cy="524024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801" y="4249936"/>
            <a:ext cx="32273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ahli: sangat layak, akurat, dalil sesuai nash asli.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51412" y="812750"/>
            <a:ext cx="1388418" cy="314325"/>
          </a:xfrm>
          <a:prstGeom prst="roundRect">
            <a:avLst>
              <a:gd name="adj" fmla="val 12121"/>
            </a:avLst>
          </a:prstGeom>
          <a:solidFill>
            <a:srgbClr val="FEF9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52913" y="927050"/>
            <a:ext cx="12091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PENGEMBANGAN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151412" y="1203275"/>
            <a:ext cx="3516660" cy="672703"/>
          </a:xfrm>
          <a:prstGeom prst="roundRect">
            <a:avLst>
              <a:gd name="adj" fmla="val 11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151412" y="1208038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63309" y="1203275"/>
            <a:ext cx="0" cy="6727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51412" y="1871216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70462" y="1203275"/>
            <a:ext cx="0" cy="672703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1912" y="1403152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341912" y="1587252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Enkripsi API key, rate limiting, CORS ketat, audit trail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151412" y="1939379"/>
            <a:ext cx="3516660" cy="672703"/>
          </a:xfrm>
          <a:prstGeom prst="roundRect">
            <a:avLst>
              <a:gd name="adj" fmla="val 11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151412" y="1944142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63309" y="1939379"/>
            <a:ext cx="0" cy="6727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51412" y="2607320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70462" y="1939379"/>
            <a:ext cx="0" cy="672703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1912" y="2139255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Enhancement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341912" y="2323356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chunking, cross-encoder re-ranking, upload file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151412" y="2675483"/>
            <a:ext cx="3516660" cy="672703"/>
          </a:xfrm>
          <a:prstGeom prst="roundRect">
            <a:avLst>
              <a:gd name="adj" fmla="val 11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151412" y="2680246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63309" y="2675483"/>
            <a:ext cx="0" cy="6727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51412" y="3343424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70462" y="2675483"/>
            <a:ext cx="0" cy="672703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1912" y="2875359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341912" y="3059460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kitab 4 mazhab + kitab tafsir Al-Qur'an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151412" y="3411587"/>
            <a:ext cx="3516660" cy="672703"/>
          </a:xfrm>
          <a:prstGeom prst="roundRect">
            <a:avLst>
              <a:gd name="adj" fmla="val 11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151412" y="3416350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63309" y="3411587"/>
            <a:ext cx="0" cy="672703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51412" y="4079528"/>
            <a:ext cx="3516660" cy="0"/>
          </a:xfrm>
          <a:prstGeom prst="line">
            <a:avLst/>
          </a:prstGeom>
          <a:noFill/>
          <a:ln w="9525">
            <a:solidFill>
              <a:srgbClr val="E8ECF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70462" y="3411587"/>
            <a:ext cx="0" cy="672703"/>
          </a:xfrm>
          <a:prstGeom prst="line">
            <a:avLst/>
          </a:prstGeom>
          <a:noFill/>
          <a:ln w="38100">
            <a:solidFill>
              <a:srgbClr val="1B7A4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41912" y="3611463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Monitoring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341912" y="3795564"/>
            <a:ext cx="3227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Unit/E2E test otomatis, dashboard analitik token usage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9C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0"/>
            <a:ext cx="9067800" cy="25301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" y="5118199"/>
            <a:ext cx="9067800" cy="25301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43214" y="1855887"/>
            <a:ext cx="2857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950" y="2122587"/>
            <a:ext cx="507950" cy="25301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43214" y="2300288"/>
            <a:ext cx="28575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143214" y="2925663"/>
            <a:ext cx="2857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43214" y="3173313"/>
            <a:ext cx="2857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 — Informatika UMS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Sidang Pendadaran - Platform Chatbot Asther Berbasis RAG untuk Domain Keilmuan Islam</dc:title>
  <dc:subject>Sidang Pendadaran Informatika UMS</dc:subject>
  <dc:creator>Muhammad Rakha Abimanyu</dc:creator>
  <cp:lastModifiedBy>Muhammad Rakha Abimanyu</cp:lastModifiedBy>
  <cp:revision>1</cp:revision>
  <dcterms:created xsi:type="dcterms:W3CDTF">2026-05-04T16:10:50Z</dcterms:created>
  <dcterms:modified xsi:type="dcterms:W3CDTF">2026-05-04T16:10:50Z</dcterms:modified>
</cp:coreProperties>
</file>