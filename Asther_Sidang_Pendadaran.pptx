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D" sz="800" b="0" i="0" u="none" strike="noStrike">
                <a:solidFill>
                  <a:srgbClr val="000000"/>
                </a:solidFill>
                <a:latin typeface="Arial"/>
              </a:rPr>
              <a:t>Skor Relevance/Accuracy per Kategori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 &amp; Accuracy</c:v>
                </c:pt>
              </c:strCache>
            </c:strRef>
          </c:tx>
          <c:spPr>
            <a:solidFill>
              <a:srgbClr val="1B6B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AC6-4D31-91AC-C8C87E0D8426}"/>
              </c:ext>
            </c:extLst>
          </c:dPt>
          <c:dPt>
            <c:idx val="1"/>
            <c:invertIfNegative val="0"/>
            <c:bubble3D val="0"/>
            <c:spPr>
              <a:solidFill>
                <a:srgbClr val="D4A5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C6-4D31-91AC-C8C87E0D8426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AC6-4D31-91AC-C8C87E0D84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QURAN</c:v>
                </c:pt>
                <c:pt idx="1">
                  <c:v>FIQH</c:v>
                </c:pt>
                <c:pt idx="2">
                  <c:v>AQIDAH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89.1</c:v>
                </c:pt>
                <c:pt idx="1">
                  <c:v>70.900000000000006</c:v>
                </c:pt>
                <c:pt idx="2">
                  <c:v>98.6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AC6-4D31-91AC-C8C87E0D84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D" b="0" i="0" u="none" strike="noStrike">
                    <a:solidFill>
                      <a:srgbClr val="000000"/>
                    </a:solidFill>
                    <a:latin typeface="Arial"/>
                  </a:rPr>
                  <a:t>Skor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023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B6B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2400" y="0"/>
            <a:ext cx="38100" cy="51435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97263" y="419100"/>
            <a:ext cx="2938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MUHAMMADIYAH SURAKARTA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97263" y="666750"/>
            <a:ext cx="2938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Studi Informatika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3901" y="507950"/>
            <a:ext cx="60647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SIDANG PENDADARAN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3901" y="777776"/>
            <a:ext cx="1015901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904352"/>
            <a:ext cx="6064749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 Language Model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Pemahaman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Penyediaan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Informasi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Keislaman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Kasus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Pada Hukum Islam, Sejarah Islam, dan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Pengetahuan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Umum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Islam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2900" y="2601824"/>
            <a:ext cx="60647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B6B4A"/>
                </a:solidFill>
                <a:latin typeface="Arial" pitchFamily="34" charset="0"/>
                <a:cs typeface="Arial" pitchFamily="34" charset="-120"/>
              </a:rPr>
              <a:t>Hikmah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8450" y="3949898"/>
            <a:ext cx="1981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Disusun oleh: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8450" y="4222849"/>
            <a:ext cx="1981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Rakha Abimanyu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8450" y="4514850"/>
            <a:ext cx="1981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L200220011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7701" y="381000"/>
            <a:ext cx="18395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77701" y="565100"/>
            <a:ext cx="1839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spcAft>
                <a:spcPts val="1206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701" y="984945"/>
            <a:ext cx="381000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39901" y="203150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58951" y="203150"/>
            <a:ext cx="0" cy="469702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9502" y="380851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Latar Belakang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39901" y="698153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58951" y="698153"/>
            <a:ext cx="0" cy="469702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502" y="875854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Rumusan Masalah &amp; Solusi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39901" y="1193155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58951" y="1193155"/>
            <a:ext cx="0" cy="469702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502" y="1370856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Metode Penelitian &amp; Data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9901" y="1688157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58951" y="1688157"/>
            <a:ext cx="0" cy="469702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502" y="1865858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Arsitektur Sistem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39901" y="2183160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58951" y="2183160"/>
            <a:ext cx="0" cy="469702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502" y="2360861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Mekanisme RAG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39901" y="2678162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558951" y="2678162"/>
            <a:ext cx="0" cy="469702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502" y="2855863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Klasifikasi Topik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39901" y="3173164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558951" y="3173164"/>
            <a:ext cx="0" cy="469702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502" y="3350865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Alur Chat API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39901" y="3668167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558951" y="3668167"/>
            <a:ext cx="0" cy="469702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502" y="3845868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Evaluasi &amp; Performa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39901" y="4163169"/>
            <a:ext cx="1708249" cy="4697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558951" y="4163169"/>
            <a:ext cx="0" cy="469702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9502" y="4340870"/>
            <a:ext cx="14964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Kesimpulan &amp; Saran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8950" y="457200"/>
            <a:ext cx="16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762000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015901"/>
            <a:ext cx="2624733" cy="387369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034951"/>
            <a:ext cx="2624733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409551"/>
            <a:ext cx="2210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Informasi Islam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653927"/>
            <a:ext cx="221088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Masyarakat Indonesia membutuhkan akses cepat dan akurat terhadap pengetahuan keislaman. Sumber informasi yang tersebar dan tidak terverifikasi menjadi tantangan utama.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59634" y="1015901"/>
            <a:ext cx="2624733" cy="387369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9634" y="1034951"/>
            <a:ext cx="2624733" cy="0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8234" y="1409551"/>
            <a:ext cx="2210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Keterbatasan Chatbot Umum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8234" y="1653927"/>
            <a:ext cx="221088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dan chatbot AI umum sering menghasilkan hallucination pada konten keislaman. Tidak ada mekanisme guardrail untuk menjamin akurasi dalil dan referensi.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38267" y="1015901"/>
            <a:ext cx="2624733" cy="387369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38267" y="1034951"/>
            <a:ext cx="2624733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6867" y="1409551"/>
            <a:ext cx="2210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Teknologi RAG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66867" y="1653927"/>
            <a:ext cx="221088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(RAG) memungkinkan LLM mengakses knowledge base terverifikasi untuk menghasilkan jawaban yang akurat dan terdokumentasi sumbernya.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8950" y="457200"/>
            <a:ext cx="3044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 &amp; Solusi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762000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117550"/>
            <a:ext cx="4145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RUMUSAN MASALAH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1361926"/>
            <a:ext cx="4064050" cy="1015603"/>
          </a:xfrm>
          <a:prstGeom prst="roundRect">
            <a:avLst>
              <a:gd name="adj" fmla="val 100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1361926"/>
            <a:ext cx="0" cy="1015603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6326" y="1641128"/>
            <a:ext cx="3734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mengembangkan platform chatbot yang mampu menjawab pertanyaan keislaman secara akurat menggunakan knowledge base terverifikasi?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1000" y="2529929"/>
            <a:ext cx="4064050" cy="863203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4813" y="2529929"/>
            <a:ext cx="0" cy="863203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326" y="2809131"/>
            <a:ext cx="37342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mengimplementasikan sistem klasifikasi topik agar chatbot hanya merespons pertanyaan seputar domain keislaman?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1000" y="3545532"/>
            <a:ext cx="4064050" cy="863203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4813" y="3545532"/>
            <a:ext cx="0" cy="863203"/>
          </a:xfrm>
          <a:prstGeom prst="line">
            <a:avLst/>
          </a:prstGeom>
          <a:noFill/>
          <a:ln w="47625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326" y="3824734"/>
            <a:ext cx="37342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mengukur performa retrieval dan kualitas jawaban yang dihasilkan oleh sistem RAG?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98950" y="1117550"/>
            <a:ext cx="4145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YANG DITAWARKAN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98950" y="1361926"/>
            <a:ext cx="4064050" cy="1015603"/>
          </a:xfrm>
          <a:prstGeom prst="roundRect">
            <a:avLst>
              <a:gd name="adj" fmla="val 100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22763" y="1361926"/>
            <a:ext cx="0" cy="1015603"/>
          </a:xfrm>
          <a:prstGeom prst="line">
            <a:avLst/>
          </a:prstGeom>
          <a:noFill/>
          <a:ln w="47625">
            <a:solidFill>
              <a:srgbClr val="1B6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4276" y="1641128"/>
            <a:ext cx="3734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Hikmah AI</a:t>
            </a: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chatbot cerdas berbasis RAG (Retrieval-Augmented Generation) dengan hybrid search (vektor + keyword) untuk domain keilmuan Islam.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98950" y="2529929"/>
            <a:ext cx="4064050" cy="863203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2763" y="2529929"/>
            <a:ext cx="0" cy="863203"/>
          </a:xfrm>
          <a:prstGeom prst="line">
            <a:avLst/>
          </a:prstGeom>
          <a:noFill/>
          <a:ln w="47625">
            <a:solidFill>
              <a:srgbClr val="1B6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4276" y="2809131"/>
            <a:ext cx="37342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3 Lapisan</a:t>
            </a: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Regex, follow-up detection, dan LLM classifier untuk membatasi cakupan topik secara efisien.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98950" y="3545532"/>
            <a:ext cx="4064050" cy="863203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22763" y="3545532"/>
            <a:ext cx="0" cy="863203"/>
          </a:xfrm>
          <a:prstGeom prst="line">
            <a:avLst/>
          </a:prstGeom>
          <a:noFill/>
          <a:ln w="47625">
            <a:solidFill>
              <a:srgbClr val="1B6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4276" y="3824734"/>
            <a:ext cx="37342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Bawaan</a:t>
            </a: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sistem evaluasi RAG terintegrasi dengan metrik Precision, Recall, F1-Score, Relevance, dan Accuracy.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5401" y="380851"/>
            <a:ext cx="17618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Penelitian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34901"/>
            <a:ext cx="634901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901601"/>
            <a:ext cx="21076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TAHAPAN PENGEMBANGAN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098352"/>
            <a:ext cx="2066330" cy="818704"/>
          </a:xfrm>
          <a:prstGeom prst="roundRect">
            <a:avLst>
              <a:gd name="adj" fmla="val 930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475" y="1310878"/>
            <a:ext cx="18292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Analisis Kebutuhan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7475" y="1526679"/>
            <a:ext cx="18292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domain keislaman dan fitur chatbot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81000" y="1993255"/>
            <a:ext cx="2066330" cy="818704"/>
          </a:xfrm>
          <a:prstGeom prst="roundRect">
            <a:avLst>
              <a:gd name="adj" fmla="val 930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7475" y="2205782"/>
            <a:ext cx="18292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Perancangan Arsitektur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7475" y="2421582"/>
            <a:ext cx="18292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modular: Next.js + PostgreSQL + pgvector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1000" y="2888159"/>
            <a:ext cx="2066330" cy="818704"/>
          </a:xfrm>
          <a:prstGeom prst="roundRect">
            <a:avLst>
              <a:gd name="adj" fmla="val 9307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7475" y="3100685"/>
            <a:ext cx="18292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Implementasi Sistem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7475" y="3316486"/>
            <a:ext cx="18292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backend, RAG, klasifikasi, dashboard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1000" y="3783062"/>
            <a:ext cx="2066330" cy="723454"/>
          </a:xfrm>
          <a:prstGeom prst="roundRect">
            <a:avLst>
              <a:gd name="adj" fmla="val 1053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7475" y="3995589"/>
            <a:ext cx="18292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Pengujian &amp; Evaluasi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475" y="4211389"/>
            <a:ext cx="18292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RAG (P,R,F1) dan validasi ahli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25030" y="901601"/>
            <a:ext cx="21076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25030" y="1098352"/>
            <a:ext cx="2066330" cy="704404"/>
          </a:xfrm>
          <a:prstGeom prst="roundRect">
            <a:avLst>
              <a:gd name="adj" fmla="val 108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51981" y="1288703"/>
            <a:ext cx="18486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51981" y="1485454"/>
            <a:ext cx="1848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(App Router + RSC)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25030" y="1866156"/>
            <a:ext cx="2066330" cy="704404"/>
          </a:xfrm>
          <a:prstGeom prst="roundRect">
            <a:avLst>
              <a:gd name="adj" fmla="val 108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51981" y="2056507"/>
            <a:ext cx="18486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751981" y="2253258"/>
            <a:ext cx="1848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5.x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25030" y="2633960"/>
            <a:ext cx="2066330" cy="704404"/>
          </a:xfrm>
          <a:prstGeom prst="roundRect">
            <a:avLst>
              <a:gd name="adj" fmla="val 108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51981" y="2824311"/>
            <a:ext cx="18486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51981" y="3021062"/>
            <a:ext cx="1848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16+ dengan pgvector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25030" y="3401764"/>
            <a:ext cx="2066330" cy="704404"/>
          </a:xfrm>
          <a:prstGeom prst="roundRect">
            <a:avLst>
              <a:gd name="adj" fmla="val 108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751981" y="3592116"/>
            <a:ext cx="18486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51981" y="3788866"/>
            <a:ext cx="1848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GPT-5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25030" y="4169569"/>
            <a:ext cx="2066330" cy="704404"/>
          </a:xfrm>
          <a:prstGeom prst="roundRect">
            <a:avLst>
              <a:gd name="adj" fmla="val 1081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751981" y="4359920"/>
            <a:ext cx="18486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751981" y="4556671"/>
            <a:ext cx="18486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Docker Compose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8950" y="457200"/>
            <a:ext cx="16716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Penelitian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762000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10490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mencakup tiga domain utama keislaman: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339751"/>
            <a:ext cx="2658517" cy="1130052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1000" y="1358801"/>
            <a:ext cx="2658517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34754" y="1339751"/>
            <a:ext cx="0" cy="113005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000" y="2465040"/>
            <a:ext cx="2658517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763" y="1339751"/>
            <a:ext cx="0" cy="113005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226" y="1682502"/>
            <a:ext cx="23297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Al-Qur'an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8226" y="1920627"/>
            <a:ext cx="23297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Surah, ayat, tafsir, asbabun nuzul, dan pengetahuan dasar tentang Al-Qur'an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42667" y="1339751"/>
            <a:ext cx="2658666" cy="1130052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42667" y="1358801"/>
            <a:ext cx="2658666" cy="0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6570" y="1339751"/>
            <a:ext cx="0" cy="113005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2667" y="2465040"/>
            <a:ext cx="2658666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7430" y="1339751"/>
            <a:ext cx="0" cy="113005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893" y="1682502"/>
            <a:ext cx="23298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Fiqh &amp; Hukum Islam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893" y="1920627"/>
            <a:ext cx="2329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Ibadah, muamalah, hukum keluarga, dan pandangan berbagai mazhab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04483" y="1339751"/>
            <a:ext cx="2658517" cy="1130052"/>
          </a:xfrm>
          <a:prstGeom prst="roundRect">
            <a:avLst>
              <a:gd name="adj" fmla="val 89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104483" y="1358801"/>
            <a:ext cx="2658517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8238" y="1339751"/>
            <a:ext cx="0" cy="113005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4483" y="2465040"/>
            <a:ext cx="2658517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9246" y="1339751"/>
            <a:ext cx="0" cy="113005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709" y="1682502"/>
            <a:ext cx="23297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Aqidah &amp; Sejarah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91709" y="1920627"/>
            <a:ext cx="23297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Dasar-dasar aqidah, sejarah peradaban Islam, sirah nabawiyah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81000" y="2647504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Pemrosesan Data: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1000" y="2882354"/>
            <a:ext cx="1962150" cy="1342579"/>
          </a:xfrm>
          <a:prstGeom prst="roundRect">
            <a:avLst>
              <a:gd name="adj" fmla="val 756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2633" y="3313956"/>
            <a:ext cx="16388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2633" y="3863132"/>
            <a:ext cx="16388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Maks. Chunk Size (karakter)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520851" y="2882354"/>
            <a:ext cx="1962299" cy="1342579"/>
          </a:xfrm>
          <a:prstGeom prst="roundRect">
            <a:avLst>
              <a:gd name="adj" fmla="val 756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682483" y="3313956"/>
            <a:ext cx="163903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682483" y="3863132"/>
            <a:ext cx="16390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(karakter)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60850" y="2882354"/>
            <a:ext cx="1962150" cy="1342579"/>
          </a:xfrm>
          <a:prstGeom prst="roundRect">
            <a:avLst>
              <a:gd name="adj" fmla="val 756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2484" y="3313956"/>
            <a:ext cx="16388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22484" y="3863132"/>
            <a:ext cx="16388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 Embedding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00701" y="2882354"/>
            <a:ext cx="1962299" cy="1342579"/>
          </a:xfrm>
          <a:prstGeom prst="roundRect">
            <a:avLst>
              <a:gd name="adj" fmla="val 756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62333" y="3313956"/>
            <a:ext cx="163903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62333" y="3863132"/>
            <a:ext cx="16390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Database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5401" y="380851"/>
            <a:ext cx="17161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Sistem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34901"/>
            <a:ext cx="634901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850850"/>
            <a:ext cx="37301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monolithic modular 4 lapisan — Next.js 15 App Router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55550" y="1022300"/>
            <a:ext cx="3657005" cy="920353"/>
          </a:xfrm>
          <a:prstGeom prst="roundRect">
            <a:avLst>
              <a:gd name="adj" fmla="val 8279"/>
            </a:avLst>
          </a:prstGeom>
          <a:solidFill>
            <a:srgbClr val="E8F5E9"/>
          </a:solidFill>
          <a:ln w="9525">
            <a:solidFill>
              <a:srgbClr val="1B6B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2227" y="1234827"/>
            <a:ext cx="3503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6576" y="1387227"/>
            <a:ext cx="1094184" cy="444401"/>
          </a:xfrm>
          <a:prstGeom prst="roundRect">
            <a:avLst>
              <a:gd name="adj" fmla="val 1143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3074" y="1561802"/>
            <a:ext cx="941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(React)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36961" y="1387227"/>
            <a:ext cx="1094184" cy="444401"/>
          </a:xfrm>
          <a:prstGeom prst="roundRect">
            <a:avLst>
              <a:gd name="adj" fmla="val 1143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13458" y="1561802"/>
            <a:ext cx="941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Client (REST)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07345" y="1387227"/>
            <a:ext cx="1094184" cy="444401"/>
          </a:xfrm>
          <a:prstGeom prst="roundRect">
            <a:avLst>
              <a:gd name="adj" fmla="val 1143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83843" y="1561802"/>
            <a:ext cx="941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5550" y="1993404"/>
            <a:ext cx="3657005" cy="1015603"/>
          </a:xfrm>
          <a:prstGeom prst="roundRect">
            <a:avLst>
              <a:gd name="adj" fmla="val 7503"/>
            </a:avLst>
          </a:prstGeom>
          <a:solidFill>
            <a:srgbClr val="FFF8E1"/>
          </a:solidFill>
          <a:ln w="9525">
            <a:solidFill>
              <a:srgbClr val="D4A54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2227" y="2205930"/>
            <a:ext cx="3503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 — Route Handlers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576" y="2358330"/>
            <a:ext cx="1094184" cy="539651"/>
          </a:xfrm>
          <a:prstGeom prst="roundRect">
            <a:avLst>
              <a:gd name="adj" fmla="val 941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3074" y="2532906"/>
            <a:ext cx="941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/api/chat (POST)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36961" y="2358330"/>
            <a:ext cx="1094184" cy="539651"/>
          </a:xfrm>
          <a:prstGeom prst="roundRect">
            <a:avLst>
              <a:gd name="adj" fmla="val 941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13458" y="2532906"/>
            <a:ext cx="9411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/api/knowledge (CRUD)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807345" y="2358330"/>
            <a:ext cx="1094184" cy="539651"/>
          </a:xfrm>
          <a:prstGeom prst="roundRect">
            <a:avLst>
              <a:gd name="adj" fmla="val 941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883843" y="2532906"/>
            <a:ext cx="9411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55550" y="3059757"/>
            <a:ext cx="3657005" cy="885527"/>
          </a:xfrm>
          <a:prstGeom prst="roundRect">
            <a:avLst>
              <a:gd name="adj" fmla="val 8605"/>
            </a:avLst>
          </a:prstGeom>
          <a:solidFill>
            <a:srgbClr val="E3F2FD"/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2227" y="3272284"/>
            <a:ext cx="3503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LAYER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576" y="3424684"/>
            <a:ext cx="801588" cy="40957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6000" y="3586609"/>
            <a:ext cx="642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Classifier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344364" y="3424684"/>
            <a:ext cx="801588" cy="40957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423788" y="3586609"/>
            <a:ext cx="642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2222153" y="3424684"/>
            <a:ext cx="801588" cy="40957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01576" y="3586609"/>
            <a:ext cx="642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Client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099941" y="3424684"/>
            <a:ext cx="801588" cy="40957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179365" y="3586609"/>
            <a:ext cx="6427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Module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55550" y="3996035"/>
            <a:ext cx="3657005" cy="933152"/>
          </a:xfrm>
          <a:prstGeom prst="roundRect">
            <a:avLst>
              <a:gd name="adj" fmla="val 816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2511" y="4199037"/>
            <a:ext cx="35230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— PostgreSQL + pgvector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051" y="4351437"/>
            <a:ext cx="806351" cy="476250"/>
          </a:xfrm>
          <a:prstGeom prst="roundRect">
            <a:avLst>
              <a:gd name="adj" fmla="val 10667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6712" y="4503837"/>
            <a:ext cx="6670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app_config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339602" y="4351437"/>
            <a:ext cx="806351" cy="476250"/>
          </a:xfrm>
          <a:prstGeom prst="roundRect">
            <a:avLst>
              <a:gd name="adj" fmla="val 10667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09262" y="4503837"/>
            <a:ext cx="6670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chat_messages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222153" y="4351437"/>
            <a:ext cx="806351" cy="476250"/>
          </a:xfrm>
          <a:prstGeom prst="roundRect">
            <a:avLst>
              <a:gd name="adj" fmla="val 10667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291813" y="4503837"/>
            <a:ext cx="6670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knowledge_chunks + vector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104704" y="4351437"/>
            <a:ext cx="806351" cy="476250"/>
          </a:xfrm>
          <a:prstGeom prst="roundRect">
            <a:avLst>
              <a:gd name="adj" fmla="val 10667"/>
            </a:avLst>
          </a:prstGeom>
          <a:solidFill>
            <a:srgbClr val="2A2A3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174364" y="4503837"/>
            <a:ext cx="6670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evaluation_runs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8950" y="457200"/>
            <a:ext cx="18401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RAG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762000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079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Pipeline — Penyimpanan Dokumen ke Knowledge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289000"/>
            <a:ext cx="1833116" cy="752177"/>
          </a:xfrm>
          <a:prstGeom prst="roundRect">
            <a:avLst>
              <a:gd name="adj" fmla="val 13508"/>
            </a:avLst>
          </a:prstGeom>
          <a:solidFill>
            <a:srgbClr val="E8F5E9"/>
          </a:solidFill>
          <a:ln w="9525">
            <a:solidFill>
              <a:srgbClr val="1B6B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7832" y="1526977"/>
            <a:ext cx="15394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Dokumen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7832" y="1742777"/>
            <a:ext cx="15394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Judul, konten, sumber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315617" y="1546027"/>
            <a:ext cx="1562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70262" y="1289000"/>
            <a:ext cx="1833265" cy="752177"/>
          </a:xfrm>
          <a:prstGeom prst="roundRect">
            <a:avLst>
              <a:gd name="adj" fmla="val 13508"/>
            </a:avLst>
          </a:prstGeom>
          <a:solidFill>
            <a:srgbClr val="FFF8E1"/>
          </a:solidFill>
          <a:ln w="9525">
            <a:solidFill>
              <a:srgbClr val="D4A54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17093" y="1526977"/>
            <a:ext cx="15396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Chunking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17093" y="1742777"/>
            <a:ext cx="153960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char, 50 overlap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505027" y="1546027"/>
            <a:ext cx="1562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9672" y="1289000"/>
            <a:ext cx="1833116" cy="752177"/>
          </a:xfrm>
          <a:prstGeom prst="roundRect">
            <a:avLst>
              <a:gd name="adj" fmla="val 13508"/>
            </a:avLst>
          </a:prstGeom>
          <a:solidFill>
            <a:srgbClr val="E3F2FD"/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06505" y="1526977"/>
            <a:ext cx="15394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Embedding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06505" y="1742777"/>
            <a:ext cx="15394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text-embedding-3-small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694289" y="1546027"/>
            <a:ext cx="1562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8934" y="1298525"/>
            <a:ext cx="1814066" cy="733127"/>
          </a:xfrm>
          <a:prstGeom prst="roundRect">
            <a:avLst>
              <a:gd name="adj" fmla="val 1385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86241" y="1526977"/>
            <a:ext cx="15394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Storage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86241" y="1742777"/>
            <a:ext cx="15394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1000" y="2168128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 — Pencarian Relevansi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000" y="2428429"/>
            <a:ext cx="2692301" cy="1026319"/>
          </a:xfrm>
          <a:prstGeom prst="roundRect">
            <a:avLst>
              <a:gd name="adj" fmla="val 98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81000" y="2447479"/>
            <a:ext cx="2692301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8538" y="2428429"/>
            <a:ext cx="0" cy="102631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1000" y="3449985"/>
            <a:ext cx="26923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5763" y="2428429"/>
            <a:ext cx="0" cy="102631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925" y="2733229"/>
            <a:ext cx="24158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Search (75%)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2925" y="2955429"/>
            <a:ext cx="241582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antara query embedding dan chunk embedding. Menangkap kesamaan semantik.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25701" y="2428429"/>
            <a:ext cx="2692450" cy="1026319"/>
          </a:xfrm>
          <a:prstGeom prst="roundRect">
            <a:avLst>
              <a:gd name="adj" fmla="val 98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225701" y="2447479"/>
            <a:ext cx="2692450" cy="0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13388" y="2428429"/>
            <a:ext cx="0" cy="102631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25701" y="3449985"/>
            <a:ext cx="26924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0463" y="2428429"/>
            <a:ext cx="0" cy="102631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7626" y="2733229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(25%)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7626" y="2955429"/>
            <a:ext cx="241597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full-text search via ts_rank. Efektif untuk istilah teknis keislaman.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070550" y="2428429"/>
            <a:ext cx="2692450" cy="1026319"/>
          </a:xfrm>
          <a:prstGeom prst="roundRect">
            <a:avLst>
              <a:gd name="adj" fmla="val 98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70550" y="2447479"/>
            <a:ext cx="269245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58238" y="2428429"/>
            <a:ext cx="0" cy="102631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70550" y="3449985"/>
            <a:ext cx="26924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75313" y="2428429"/>
            <a:ext cx="0" cy="1026319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2475" y="2733229"/>
            <a:ext cx="2415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Boosting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32475" y="2955429"/>
            <a:ext cx="241597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+0.12 untuk Al-Qur'an dan hadits. Kumulatif hingga +0.24 untuk konten relevan.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81000" y="3556248"/>
            <a:ext cx="8382000" cy="615851"/>
          </a:xfrm>
          <a:prstGeom prst="roundRect">
            <a:avLst>
              <a:gd name="adj" fmla="val 12373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8435" y="3797498"/>
            <a:ext cx="8187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skor_akhir = (skor_vektor x 0.75) + (skor_kata_kunci x 0.25) + domain_boost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5401" y="380851"/>
            <a:ext cx="28984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Topik — 3 Lapisan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34901"/>
            <a:ext cx="634901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850850"/>
            <a:ext cx="5633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Menjamin chatbot hanya merespons pertanyaan domain keislaman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55550" y="1022300"/>
            <a:ext cx="4024164" cy="787152"/>
          </a:xfrm>
          <a:prstGeom prst="roundRect">
            <a:avLst>
              <a:gd name="adj" fmla="val 9680"/>
            </a:avLst>
          </a:prstGeom>
          <a:solidFill>
            <a:srgbClr val="E8F5E9"/>
          </a:solidFill>
          <a:ln w="19050">
            <a:solidFill>
              <a:srgbClr val="1B6B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1551" y="1257151"/>
            <a:ext cx="3806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1: Deteksi Regex Cepat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1551" y="1504801"/>
            <a:ext cx="3806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kunci Islam (fiqh, shalat, zakat, tafsir)? DIIZINKAN. Non-Islam (crypto, anime)? DITOLAK.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481215" y="1203127"/>
            <a:ext cx="1396901" cy="425351"/>
          </a:xfrm>
          <a:prstGeom prst="roundRect">
            <a:avLst>
              <a:gd name="adj" fmla="val 1791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96735" y="1368177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Deterministik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0325" y="1974503"/>
            <a:ext cx="5633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terdeteksi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5550" y="2234803"/>
            <a:ext cx="4024164" cy="787152"/>
          </a:xfrm>
          <a:prstGeom prst="roundRect">
            <a:avLst>
              <a:gd name="adj" fmla="val 9680"/>
            </a:avLst>
          </a:prstGeom>
          <a:solidFill>
            <a:srgbClr val="FFF8E1"/>
          </a:solidFill>
          <a:ln w="19050">
            <a:solidFill>
              <a:srgbClr val="D4A54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1551" y="2469654"/>
            <a:ext cx="3806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2: Deteksi Konteks Follow-Up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1551" y="2717304"/>
            <a:ext cx="3806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shared terms dan reference cue ("itu", "tersebut") di 6 pesan terakhir.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481215" y="2415629"/>
            <a:ext cx="1396901" cy="425351"/>
          </a:xfrm>
          <a:prstGeom prst="roundRect">
            <a:avLst>
              <a:gd name="adj" fmla="val 17915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96735" y="2580680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Kontekstual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00325" y="3187005"/>
            <a:ext cx="5633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55550" y="3447306"/>
            <a:ext cx="4024164" cy="787152"/>
          </a:xfrm>
          <a:prstGeom prst="roundRect">
            <a:avLst>
              <a:gd name="adj" fmla="val 9680"/>
            </a:avLst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1551" y="3682157"/>
            <a:ext cx="38068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3: Klasifikasi via LLM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1551" y="3929807"/>
            <a:ext cx="38068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gpt-4.1-nano menentukan allowed/denied. Fallback: gpt-4.1-mini, gpt-4o-mini.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481215" y="3628132"/>
            <a:ext cx="1396901" cy="425351"/>
          </a:xfrm>
          <a:prstGeom prst="roundRect">
            <a:avLst>
              <a:gd name="adj" fmla="val 17915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96735" y="3793182"/>
            <a:ext cx="1165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8950" y="457200"/>
            <a:ext cx="2945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Pemrosesan Chat API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762000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079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Request POST /api/chat: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298525"/>
            <a:ext cx="1147911" cy="637877"/>
          </a:xfrm>
          <a:prstGeom prst="roundRect">
            <a:avLst>
              <a:gd name="adj" fmla="val 1194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9010" y="1488877"/>
            <a:ext cx="911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Validasi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99010" y="1672977"/>
            <a:ext cx="9118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+ Request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605111" y="1517452"/>
            <a:ext cx="133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12578" y="1289000"/>
            <a:ext cx="1166961" cy="656927"/>
          </a:xfrm>
          <a:prstGeom prst="roundRect">
            <a:avLst>
              <a:gd name="adj" fmla="val 11599"/>
            </a:avLst>
          </a:prstGeom>
          <a:solidFill>
            <a:srgbClr val="E8F5E9"/>
          </a:solidFill>
          <a:ln w="9525">
            <a:solidFill>
              <a:srgbClr val="1B6B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40113" y="1488877"/>
            <a:ext cx="911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Registrasi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940113" y="1672977"/>
            <a:ext cx="9118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Partisipan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055739" y="1517452"/>
            <a:ext cx="133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3205" y="1289000"/>
            <a:ext cx="1166961" cy="656927"/>
          </a:xfrm>
          <a:prstGeom prst="roundRect">
            <a:avLst>
              <a:gd name="adj" fmla="val 11599"/>
            </a:avLst>
          </a:prstGeom>
          <a:solidFill>
            <a:srgbClr val="FFF8E1"/>
          </a:solidFill>
          <a:ln w="9525">
            <a:solidFill>
              <a:srgbClr val="D4A54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90741" y="1488877"/>
            <a:ext cx="911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Klasifikasi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90741" y="1672977"/>
            <a:ext cx="9118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Topik (3 lapisan)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06367" y="1517452"/>
            <a:ext cx="133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3833" y="1289000"/>
            <a:ext cx="1166961" cy="656927"/>
          </a:xfrm>
          <a:prstGeom prst="roundRect">
            <a:avLst>
              <a:gd name="adj" fmla="val 11599"/>
            </a:avLst>
          </a:prstGeom>
          <a:solidFill>
            <a:srgbClr val="E3F2FD"/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41368" y="1488877"/>
            <a:ext cx="911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41368" y="1672977"/>
            <a:ext cx="9118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Ambil Konteks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56995" y="1517452"/>
            <a:ext cx="133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64461" y="1289000"/>
            <a:ext cx="1166961" cy="656927"/>
          </a:xfrm>
          <a:prstGeom prst="roundRect">
            <a:avLst>
              <a:gd name="adj" fmla="val 11599"/>
            </a:avLst>
          </a:prstGeom>
          <a:solidFill>
            <a:srgbClr val="F3E5F5"/>
          </a:solidFill>
          <a:ln w="9525">
            <a:solidFill>
              <a:srgbClr val="7B1FA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91996" y="1488877"/>
            <a:ext cx="911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LLM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91996" y="1672977"/>
            <a:ext cx="9118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7407622" y="1517452"/>
            <a:ext cx="133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15089" y="1298525"/>
            <a:ext cx="1147911" cy="637877"/>
          </a:xfrm>
          <a:prstGeom prst="roundRect">
            <a:avLst>
              <a:gd name="adj" fmla="val 11946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33099" y="1488877"/>
            <a:ext cx="911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Response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33099" y="1672977"/>
            <a:ext cx="9118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81000" y="2072878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Fitur-Fitur Utama: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1000" y="2333179"/>
            <a:ext cx="1962150" cy="1239738"/>
          </a:xfrm>
          <a:prstGeom prst="roundRect">
            <a:avLst>
              <a:gd name="adj" fmla="val 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81000" y="2352229"/>
            <a:ext cx="1962150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38388" y="2333179"/>
            <a:ext cx="0" cy="123973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1000" y="3568154"/>
            <a:ext cx="19621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5763" y="2333179"/>
            <a:ext cx="0" cy="123973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925" y="2637979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Gambar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2925" y="2860179"/>
            <a:ext cx="16710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GPT-4.1 menganalisis konten visual dari URL gambar yang dikirim pengguna sebagai konteks tambahan.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20851" y="2333179"/>
            <a:ext cx="1962299" cy="1239738"/>
          </a:xfrm>
          <a:prstGeom prst="roundRect">
            <a:avLst>
              <a:gd name="adj" fmla="val 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2520851" y="2352229"/>
            <a:ext cx="1962299" cy="0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78387" y="2333179"/>
            <a:ext cx="0" cy="123973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20851" y="3568154"/>
            <a:ext cx="1962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25613" y="2333179"/>
            <a:ext cx="0" cy="123973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82776" y="2637979"/>
            <a:ext cx="1671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Kedalaman Respons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82776" y="2860179"/>
            <a:ext cx="167121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level: Ringkas (langsung ke inti), Standar (dengan contoh), dan Mendalam (dalil, konteks historis, perbandingan mazhab).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660850" y="2333179"/>
            <a:ext cx="1962150" cy="1239738"/>
          </a:xfrm>
          <a:prstGeom prst="roundRect">
            <a:avLst>
              <a:gd name="adj" fmla="val 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60850" y="2352229"/>
            <a:ext cx="196215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18238" y="2333179"/>
            <a:ext cx="0" cy="123973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0850" y="3568154"/>
            <a:ext cx="19621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5613" y="2333179"/>
            <a:ext cx="0" cy="123973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2775" y="2637979"/>
            <a:ext cx="1671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Sitasi Sumber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22775" y="2860179"/>
            <a:ext cx="1671066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 menyertakan referensi dari knowledge base untuk verifikasi. Dapat diaktifkan/nonaktifkan via API.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00701" y="2333179"/>
            <a:ext cx="1962299" cy="1239738"/>
          </a:xfrm>
          <a:prstGeom prst="roundRect">
            <a:avLst>
              <a:gd name="adj" fmla="val 81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800701" y="2352229"/>
            <a:ext cx="1962299" cy="0"/>
          </a:xfrm>
          <a:prstGeom prst="line">
            <a:avLst/>
          </a:prstGeom>
          <a:noFill/>
          <a:ln w="38100">
            <a:solidFill>
              <a:srgbClr val="7B1FA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58237" y="2333179"/>
            <a:ext cx="0" cy="123973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00701" y="3568154"/>
            <a:ext cx="1962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05464" y="2333179"/>
            <a:ext cx="0" cy="123973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62626" y="2637979"/>
            <a:ext cx="1671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Isolation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962626" y="2860179"/>
            <a:ext cx="167121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Riwayat chat terisolasi per pengguna. Jumlah pesan konteks dapat dikonfigurasi (default 5).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5401" y="380851"/>
            <a:ext cx="25337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&amp; Performa RAG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34901"/>
            <a:ext cx="634901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863501"/>
            <a:ext cx="3886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Agregat (3 Kueri Uji):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55550" y="1041202"/>
            <a:ext cx="1219200" cy="1079153"/>
          </a:xfrm>
          <a:prstGeom prst="roundRect">
            <a:avLst>
              <a:gd name="adj" fmla="val 7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55550" y="1060252"/>
            <a:ext cx="1219200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69988" y="1041202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550" y="2115592"/>
            <a:ext cx="121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313" y="1041202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605" y="1383953"/>
            <a:ext cx="10170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605" y="1825228"/>
            <a:ext cx="10170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650950" y="1041202"/>
            <a:ext cx="1219200" cy="1079153"/>
          </a:xfrm>
          <a:prstGeom prst="roundRect">
            <a:avLst>
              <a:gd name="adj" fmla="val 7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650950" y="1060252"/>
            <a:ext cx="1219200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5388" y="1041202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0950" y="2115592"/>
            <a:ext cx="121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55713" y="1041202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52005" y="1383953"/>
            <a:ext cx="10170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52005" y="1825228"/>
            <a:ext cx="10170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946350" y="1041202"/>
            <a:ext cx="1219200" cy="1079153"/>
          </a:xfrm>
          <a:prstGeom prst="roundRect">
            <a:avLst>
              <a:gd name="adj" fmla="val 7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946350" y="1060252"/>
            <a:ext cx="1219200" cy="0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788" y="1041202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46350" y="2115592"/>
            <a:ext cx="12192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51113" y="1041202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7405" y="1383953"/>
            <a:ext cx="10170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047405" y="1825228"/>
            <a:ext cx="10170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55550" y="2183755"/>
            <a:ext cx="1866900" cy="1079153"/>
          </a:xfrm>
          <a:prstGeom prst="roundRect">
            <a:avLst>
              <a:gd name="adj" fmla="val 7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55550" y="2202805"/>
            <a:ext cx="18669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17688" y="2183755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5550" y="3258145"/>
            <a:ext cx="18669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0313" y="2183755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128" y="2526506"/>
            <a:ext cx="16777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0128" y="2967782"/>
            <a:ext cx="16777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Relevance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98650" y="2183755"/>
            <a:ext cx="1866900" cy="1079153"/>
          </a:xfrm>
          <a:prstGeom prst="roundRect">
            <a:avLst>
              <a:gd name="adj" fmla="val 706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298650" y="2202805"/>
            <a:ext cx="1866900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0788" y="2183755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98650" y="3258145"/>
            <a:ext cx="18669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03413" y="2183755"/>
            <a:ext cx="0" cy="107915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93228" y="2526506"/>
            <a:ext cx="16777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393228" y="2967782"/>
            <a:ext cx="16777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Accuracy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43251" y="863501"/>
            <a:ext cx="25788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Kategori: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343251" y="1041202"/>
            <a:ext cx="2528292" cy="701278"/>
          </a:xfrm>
          <a:prstGeom prst="roundRect">
            <a:avLst>
              <a:gd name="adj" fmla="val 108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343251" y="1045964"/>
            <a:ext cx="25282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66781" y="1041202"/>
            <a:ext cx="0" cy="70127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43251" y="1737717"/>
            <a:ext cx="25282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62301" y="1041202"/>
            <a:ext cx="0" cy="701278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08302" y="1253728"/>
            <a:ext cx="22713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 — 89.1%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08302" y="1469529"/>
            <a:ext cx="2271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"Surah pertama kali turun?"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343251" y="1805880"/>
            <a:ext cx="2528292" cy="701278"/>
          </a:xfrm>
          <a:prstGeom prst="roundRect">
            <a:avLst>
              <a:gd name="adj" fmla="val 108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343251" y="1810643"/>
            <a:ext cx="25282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66781" y="1805880"/>
            <a:ext cx="0" cy="70127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43251" y="2502396"/>
            <a:ext cx="25282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62301" y="1805880"/>
            <a:ext cx="0" cy="701278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08302" y="2018407"/>
            <a:ext cx="22713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FIQH — 70.9%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08302" y="2234208"/>
            <a:ext cx="2271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"Hukum membunuh perampok?"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4343251" y="2570559"/>
            <a:ext cx="2528292" cy="701278"/>
          </a:xfrm>
          <a:prstGeom prst="roundRect">
            <a:avLst>
              <a:gd name="adj" fmla="val 108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4343251" y="2575322"/>
            <a:ext cx="25282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66781" y="2570559"/>
            <a:ext cx="0" cy="701278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43251" y="3267075"/>
            <a:ext cx="2528292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62301" y="2570559"/>
            <a:ext cx="0" cy="701278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08302" y="2783086"/>
            <a:ext cx="22713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AQIDAH — 98.6%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08302" y="2998887"/>
            <a:ext cx="2271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"Kenapa Islam agama sempurna?"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343251" y="3335238"/>
            <a:ext cx="2528292" cy="638473"/>
          </a:xfrm>
          <a:prstGeom prst="roundRect">
            <a:avLst>
              <a:gd name="adj" fmla="val 11935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444752" y="3525589"/>
            <a:ext cx="23717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Temuan: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444752" y="3697039"/>
            <a:ext cx="23717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sempurna. Korelasi Rel-Acc identik: tidak ada hallucination.</a:t>
            </a:r>
            <a:endParaRPr lang="en-US" sz="600" dirty="0"/>
          </a:p>
        </p:txBody>
      </p:sp>
      <p:graphicFrame>
        <p:nvGraphicFramePr>
          <p:cNvPr id="67" name="Chart 0"/>
          <p:cNvGraphicFramePr/>
          <p:nvPr/>
        </p:nvGraphicFramePr>
        <p:xfrm>
          <a:off x="355550" y="3326309"/>
          <a:ext cx="3810000" cy="152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8950" y="457200"/>
            <a:ext cx="20602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762000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079450"/>
            <a:ext cx="71149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Metrik Evaluasi RAG: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314301"/>
            <a:ext cx="2240459" cy="1048494"/>
          </a:xfrm>
          <a:prstGeom prst="roundRect">
            <a:avLst>
              <a:gd name="adj" fmla="val 96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81000" y="1333351"/>
            <a:ext cx="2240459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16696" y="1314301"/>
            <a:ext cx="0" cy="104849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1000" y="2358033"/>
            <a:ext cx="22404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763" y="1314301"/>
            <a:ext cx="0" cy="104849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1631752"/>
            <a:ext cx="19549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(P)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2925" y="1863477"/>
            <a:ext cx="195494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Proporsi chunk relevan dari seluruh chunk yang diambil.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8409" y="1314301"/>
            <a:ext cx="2240607" cy="1048494"/>
          </a:xfrm>
          <a:prstGeom prst="roundRect">
            <a:avLst>
              <a:gd name="adj" fmla="val 96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48409" y="1333351"/>
            <a:ext cx="2240607" cy="0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4254" y="1314301"/>
            <a:ext cx="0" cy="104849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8409" y="2358033"/>
            <a:ext cx="2240607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53171" y="1314301"/>
            <a:ext cx="0" cy="104849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10334" y="1631752"/>
            <a:ext cx="1955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10334" y="1863477"/>
            <a:ext cx="195509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Proporsi chunk relevan yang berhasil ditemukan.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115967" y="1314301"/>
            <a:ext cx="2240459" cy="1048494"/>
          </a:xfrm>
          <a:prstGeom prst="roundRect">
            <a:avLst>
              <a:gd name="adj" fmla="val 96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115967" y="1333351"/>
            <a:ext cx="2240459" cy="0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1663" y="1314301"/>
            <a:ext cx="0" cy="104849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5967" y="2358033"/>
            <a:ext cx="22404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729" y="1314301"/>
            <a:ext cx="0" cy="1048494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7892" y="1631752"/>
            <a:ext cx="19549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77892" y="1863477"/>
            <a:ext cx="1954941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harmonik Precision dan Recall.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1000" y="2489746"/>
            <a:ext cx="3424238" cy="924223"/>
          </a:xfrm>
          <a:prstGeom prst="roundRect">
            <a:avLst>
              <a:gd name="adj" fmla="val 109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81000" y="2508796"/>
            <a:ext cx="3424238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00475" y="2489746"/>
            <a:ext cx="0" cy="92422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000" y="3409206"/>
            <a:ext cx="342423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5763" y="2489746"/>
            <a:ext cx="0" cy="92422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2925" y="2807196"/>
            <a:ext cx="3162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2925" y="3038921"/>
            <a:ext cx="31623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relevansi jawaban (dinilai LLM, 0-100%).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932188" y="2489746"/>
            <a:ext cx="3424238" cy="924223"/>
          </a:xfrm>
          <a:prstGeom prst="roundRect">
            <a:avLst>
              <a:gd name="adj" fmla="val 109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932188" y="2508796"/>
            <a:ext cx="3424237" cy="0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51663" y="2489746"/>
            <a:ext cx="0" cy="92422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32188" y="3409206"/>
            <a:ext cx="3424237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6950" y="2489746"/>
            <a:ext cx="0" cy="92422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94113" y="2807196"/>
            <a:ext cx="31623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94113" y="3038921"/>
            <a:ext cx="31623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 ketepatan jawaban (dinilai LLM, 0-100%).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1000" y="3540919"/>
            <a:ext cx="2240459" cy="799951"/>
          </a:xfrm>
          <a:prstGeom prst="roundRect">
            <a:avLst>
              <a:gd name="adj" fmla="val 1270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39850" y="3756720"/>
            <a:ext cx="1922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9850" y="3966270"/>
            <a:ext cx="1922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TP / (TP + FP)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8409" y="3540919"/>
            <a:ext cx="2240607" cy="799951"/>
          </a:xfrm>
          <a:prstGeom prst="roundRect">
            <a:avLst>
              <a:gd name="adj" fmla="val 1270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907258" y="3756720"/>
            <a:ext cx="19229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907258" y="3966270"/>
            <a:ext cx="1922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TP / (TP + FN)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15967" y="3540919"/>
            <a:ext cx="2240459" cy="799951"/>
          </a:xfrm>
          <a:prstGeom prst="roundRect">
            <a:avLst>
              <a:gd name="adj" fmla="val 1270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274817" y="3756720"/>
            <a:ext cx="1922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274817" y="3966270"/>
            <a:ext cx="1922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2(P x R) / (P + R)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82501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88950" y="457200"/>
            <a:ext cx="32176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 &amp; Perbandingan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762000"/>
            <a:ext cx="762000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092101"/>
            <a:ext cx="4145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1000" y="1336477"/>
            <a:ext cx="4064050" cy="1711226"/>
          </a:xfrm>
          <a:prstGeom prst="roundRect">
            <a:avLst>
              <a:gd name="adj" fmla="val 593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628477"/>
            <a:ext cx="37828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Ustadz Negus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8701" y="1876127"/>
            <a:ext cx="37828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Ranting Muhammadiyah Alasombo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58701" y="2060228"/>
            <a:ext cx="37828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Kesantrian PP Tahfidzul Qur'an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58701" y="2244328"/>
            <a:ext cx="37828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Hafidz Al-Qur'an 30 Juz, Ahli Hadits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58701" y="2441079"/>
            <a:ext cx="37828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Hasil: SANGAT LAYAK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8701" y="2656880"/>
            <a:ext cx="3782821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pertanyaan fiqh diajukan. Tidak ditemukan kesalahan. Dalil sesuai nash asli.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1000" y="3174653"/>
            <a:ext cx="4064050" cy="577751"/>
          </a:xfrm>
          <a:prstGeom prst="roundRect">
            <a:avLst>
              <a:gd name="adj" fmla="val 1758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174653"/>
            <a:ext cx="0" cy="577751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801" y="3396853"/>
            <a:ext cx="37439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Saran:</a:t>
            </a: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Tambahkan referensi kitab 4 mazhab dan kitab tafsir Al-Qur'an.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73650" y="1092101"/>
            <a:ext cx="41454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73650" y="1336477"/>
            <a:ext cx="4064198" cy="914251"/>
          </a:xfrm>
          <a:prstGeom prst="roundRect">
            <a:avLst>
              <a:gd name="adj" fmla="val 11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73650" y="1341239"/>
            <a:ext cx="406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3086" y="1336477"/>
            <a:ext cx="0" cy="91425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3650" y="2245965"/>
            <a:ext cx="406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2700" y="1336477"/>
            <a:ext cx="0" cy="914251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9450" y="1587252"/>
            <a:ext cx="373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B6B4A"/>
                </a:solidFill>
                <a:latin typeface="Arial" pitchFamily="34" charset="0"/>
                <a:cs typeface="Arial" pitchFamily="34" charset="-120"/>
              </a:rPr>
              <a:t>Hikmah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89450" y="1834902"/>
            <a:ext cx="3734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 Islam, Hybrid RAG, Knowledge base CRUD, Dashboard admin, API REST, Evaluasi bawaan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73650" y="2352229"/>
            <a:ext cx="4064198" cy="819001"/>
          </a:xfrm>
          <a:prstGeom prst="roundRect">
            <a:avLst>
              <a:gd name="adj" fmla="val 124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73650" y="2356991"/>
            <a:ext cx="406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33086" y="2352229"/>
            <a:ext cx="0" cy="81900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73650" y="3166467"/>
            <a:ext cx="406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2700" y="2352229"/>
            <a:ext cx="0" cy="819001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9450" y="2603004"/>
            <a:ext cx="373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QuranGPT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9450" y="2850654"/>
            <a:ext cx="37343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Al-Qur'an saja, Database statis, Ada mobile app, Multi-terjemahan, Tanpa CRUD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73650" y="3272730"/>
            <a:ext cx="4064198" cy="819001"/>
          </a:xfrm>
          <a:prstGeom prst="roundRect">
            <a:avLst>
              <a:gd name="adj" fmla="val 124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73650" y="3277493"/>
            <a:ext cx="406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3086" y="3272730"/>
            <a:ext cx="0" cy="81900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3650" y="4086969"/>
            <a:ext cx="406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2700" y="3272730"/>
            <a:ext cx="0" cy="819001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9450" y="3523506"/>
            <a:ext cx="3734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HadithGPT (Offline)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89450" y="3771156"/>
            <a:ext cx="37343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Hadits saja, 40.000 hadits statis, Dinonaktifkan karena isu akurasi AI pada konten keislaman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673650" y="4193232"/>
            <a:ext cx="4064198" cy="878384"/>
          </a:xfrm>
          <a:prstGeom prst="roundRect">
            <a:avLst>
              <a:gd name="adj" fmla="val 11567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00600" y="4421684"/>
            <a:ext cx="38865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Keunggulan Asther: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00600" y="4624834"/>
            <a:ext cx="388650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Satu-satunya platform dengan knowledge base terkelola, hybrid RAG, klasifikasi 3 lapisan, dan evaluasi bawaan.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810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5401" y="380851"/>
            <a:ext cx="20153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Saran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34901"/>
            <a:ext cx="634901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876300"/>
            <a:ext cx="3088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5550" y="1073051"/>
            <a:ext cx="3027759" cy="605433"/>
          </a:xfrm>
          <a:prstGeom prst="roundRect">
            <a:avLst>
              <a:gd name="adj" fmla="val 125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55550" y="1077813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78547" y="1073051"/>
            <a:ext cx="0" cy="60543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550" y="1673721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600" y="1073051"/>
            <a:ext cx="0" cy="605433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0601" y="1260277"/>
            <a:ext cx="278075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Asther berhasil dikembangkan berbasis RAG dengan Next.js 15 + PostgreSQL + pgvector.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55550" y="1741884"/>
            <a:ext cx="3027759" cy="605433"/>
          </a:xfrm>
          <a:prstGeom prst="roundRect">
            <a:avLst>
              <a:gd name="adj" fmla="val 125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5550" y="1746647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8547" y="1741884"/>
            <a:ext cx="0" cy="60543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5550" y="2342555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600" y="1741884"/>
            <a:ext cx="0" cy="605433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601" y="1929110"/>
            <a:ext cx="278075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 3 lapisan efektif membatasi cakupan pada domain keislaman.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55550" y="2410718"/>
            <a:ext cx="3027759" cy="605433"/>
          </a:xfrm>
          <a:prstGeom prst="roundRect">
            <a:avLst>
              <a:gd name="adj" fmla="val 125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5550" y="2415480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8547" y="2410718"/>
            <a:ext cx="0" cy="605433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5550" y="3011388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600" y="2410718"/>
            <a:ext cx="0" cy="605433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601" y="2597944"/>
            <a:ext cx="278075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 (75:25) + domain boosting: P=R=F1=100%, Avg Accuracy 86.2%.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5550" y="3079552"/>
            <a:ext cx="3027759" cy="489942"/>
          </a:xfrm>
          <a:prstGeom prst="roundRect">
            <a:avLst>
              <a:gd name="adj" fmla="val 155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55550" y="3084314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78547" y="3079552"/>
            <a:ext cx="0" cy="48994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5550" y="3564731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600" y="3079552"/>
            <a:ext cx="0" cy="489942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0601" y="3266777"/>
            <a:ext cx="278075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admin konfiguratif tanpa keahlian pemrograman.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5550" y="3632895"/>
            <a:ext cx="3027759" cy="489942"/>
          </a:xfrm>
          <a:prstGeom prst="roundRect">
            <a:avLst>
              <a:gd name="adj" fmla="val 155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55550" y="3637657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8547" y="3632895"/>
            <a:ext cx="0" cy="48994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5550" y="4118074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4600" y="3632895"/>
            <a:ext cx="0" cy="489942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0601" y="3820120"/>
            <a:ext cx="278075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ahli: sangat layak, akurat, dalil sesuai nash asli.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561011" y="876300"/>
            <a:ext cx="30883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61011" y="1073051"/>
            <a:ext cx="3027759" cy="647402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561011" y="1077813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4007" y="1073051"/>
            <a:ext cx="0" cy="64740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1011" y="1715691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80061" y="1073051"/>
            <a:ext cx="0" cy="647402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26061" y="1260277"/>
            <a:ext cx="2780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726061" y="1444377"/>
            <a:ext cx="2780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Enkripsi API key, rate limiting, CORS ketat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561011" y="1783854"/>
            <a:ext cx="3027759" cy="647402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561011" y="1788616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4007" y="1783854"/>
            <a:ext cx="0" cy="64740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61011" y="2426494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80061" y="1783854"/>
            <a:ext cx="0" cy="647402"/>
          </a:xfrm>
          <a:prstGeom prst="line">
            <a:avLst/>
          </a:prstGeom>
          <a:noFill/>
          <a:ln w="38100">
            <a:solidFill>
              <a:srgbClr val="1B6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26061" y="1971080"/>
            <a:ext cx="2780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Enhancement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726061" y="2155180"/>
            <a:ext cx="2780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chunking, re-ranking, upload file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561011" y="2494657"/>
            <a:ext cx="3027759" cy="647402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3561011" y="2499420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4007" y="2494657"/>
            <a:ext cx="0" cy="64740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1011" y="3137297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80061" y="2494657"/>
            <a:ext cx="0" cy="647402"/>
          </a:xfrm>
          <a:prstGeom prst="line">
            <a:avLst/>
          </a:prstGeom>
          <a:noFill/>
          <a:ln w="38100">
            <a:solidFill>
              <a:srgbClr val="D4A5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26061" y="2681883"/>
            <a:ext cx="2780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D4A5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26061" y="2865983"/>
            <a:ext cx="2780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Kitab 4 mazhab + kitab tafsir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3561011" y="3205460"/>
            <a:ext cx="3027759" cy="647402"/>
          </a:xfrm>
          <a:prstGeom prst="roundRect">
            <a:avLst>
              <a:gd name="adj" fmla="val 117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3561011" y="3210223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84007" y="3205460"/>
            <a:ext cx="0" cy="647402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1011" y="3848100"/>
            <a:ext cx="302775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80061" y="3205460"/>
            <a:ext cx="0" cy="647402"/>
          </a:xfrm>
          <a:prstGeom prst="line">
            <a:avLst/>
          </a:prstGeom>
          <a:noFill/>
          <a:ln w="38100">
            <a:solidFill>
              <a:srgbClr val="1565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26061" y="3392686"/>
            <a:ext cx="2780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Monitoring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726061" y="3576786"/>
            <a:ext cx="27807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Unit/E2E test, dashboard analitik token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1B6B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2400" y="0"/>
            <a:ext cx="38100" cy="51435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33156" y="1827163"/>
            <a:ext cx="3077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dirty="0">
                <a:solidFill>
                  <a:srgbClr val="D4A54B"/>
                </a:solidFill>
                <a:latin typeface="Arial" pitchFamily="34" charset="0"/>
                <a:cs typeface="Arial" pitchFamily="34" charset="-120"/>
              </a:rPr>
              <a:t>SEKIAN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4050" y="2122438"/>
            <a:ext cx="1015901" cy="38100"/>
          </a:xfrm>
          <a:prstGeom prst="rect">
            <a:avLst/>
          </a:prstGeom>
          <a:solidFill>
            <a:srgbClr val="D4A5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33156" y="2312938"/>
            <a:ext cx="307768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33156" y="2925663"/>
            <a:ext cx="3077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Rakha Abimanyu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33156" y="3195489"/>
            <a:ext cx="3077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1B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L200220011 — Informatika UMS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1306</Words>
  <Application>Microsoft Office PowerPoint</Application>
  <PresentationFormat>On-screen Show (16:9)</PresentationFormat>
  <Paragraphs>261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Sidang Pendadaran - Platform Chatbot Asther Berbasis RAG untuk Domain Keilmuan Islam</dc:title>
  <dc:subject>Sidang Pendadaran Informatika UMS</dc:subject>
  <dc:creator>Muhammad Rakha Abimanyu</dc:creator>
  <cp:lastModifiedBy>ias ss</cp:lastModifiedBy>
  <cp:revision>6</cp:revision>
  <dcterms:created xsi:type="dcterms:W3CDTF">2026-05-04T01:57:14Z</dcterms:created>
  <dcterms:modified xsi:type="dcterms:W3CDTF">2026-05-04T15:55:11Z</dcterms:modified>
</cp:coreProperties>
</file>