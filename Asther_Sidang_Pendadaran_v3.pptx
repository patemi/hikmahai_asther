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800" b="0" i="0" u="none" strike="noStrike">
                <a:solidFill>
                  <a:srgbClr val="000000"/>
                </a:solidFill>
                <a:latin typeface="Arial"/>
              </a:rPr>
              <a:t>Skor Relevance/Accuracy per Kategori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&amp; Accuracy</c:v>
                </c:pt>
              </c:strCache>
            </c:strRef>
          </c:tx>
          <c:spPr>
            <a:solidFill>
              <a:srgbClr val="2D9C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C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8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QURAN</c:v>
                  </c:pt>
                  <c:pt idx="1">
                    <c:v>FIQH</c:v>
                  </c:pt>
                  <c:pt idx="2">
                    <c:v>AQIDAH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70.9</c:v>
                </c:pt>
                <c:pt idx="2">
                  <c:v>98.6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Skor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580852"/>
            <a:ext cx="50795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1923604"/>
            <a:ext cx="7254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SIDANG PENDADARAN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5901" y="2183904"/>
            <a:ext cx="7254442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Platform Chatbot Cerdas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5901" y="2651075"/>
            <a:ext cx="7254442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RAG untuk Domain Keilmuan Islam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5901" y="3270647"/>
            <a:ext cx="7254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8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5901" y="4186386"/>
            <a:ext cx="7112198" cy="0"/>
          </a:xfrm>
          <a:prstGeom prst="line">
            <a:avLst/>
          </a:prstGeom>
          <a:noFill/>
          <a:ln w="9525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5901" y="4406950"/>
            <a:ext cx="1621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5901" y="4654600"/>
            <a:ext cx="1621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91532" y="4426000"/>
            <a:ext cx="1536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Muhammadiyah Surakarta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591532" y="4610100"/>
            <a:ext cx="1536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Informatika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82501"/>
            <a:ext cx="18658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Presentasi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709440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092101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1851" y="1361926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3450" y="1709440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0401" y="1092101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30401" y="1361926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Solusi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709440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8950" y="1092101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361926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40550" y="1709440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7500" y="1092101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67500" y="1361926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Penelitian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4901" y="2585442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851" y="1968103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1851" y="2237929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3450" y="2585442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0401" y="1968103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30401" y="2237929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2585442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8950" y="1968103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2237929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40550" y="2585442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7500" y="1968103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67500" y="2237929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Chat API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4901" y="3461445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851" y="2844105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1851" y="3113931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&amp; Performa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03450" y="3461445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30401" y="2844105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30401" y="3113931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3461445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8950" y="2844105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98950" y="3113931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40550" y="3461445"/>
            <a:ext cx="19685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67500" y="2844105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67500" y="3113931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4858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990600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142851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Informasi Islam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387227"/>
            <a:ext cx="2504474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Indonesia membutuhkan akses cepat dan akurat terhadap pengetahuan keislaman. Sumber informasi yang tersebar dan tidak terverifikasi menjadi tantangan utama dalam era digital saat ini.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44168" y="990600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44168" y="1142851"/>
            <a:ext cx="2504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Chatbot Umum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4168" y="1387227"/>
            <a:ext cx="2504626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dan chatbot AI umum sering menghasilkan hallucination pada konten keislaman. Tidak ada mekanisme guardrail untuk menjamin akurasi dalil dan rujukan yang diberikan.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53584" y="990600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53584" y="1142851"/>
            <a:ext cx="2504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Teknologi RAG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584" y="1387227"/>
            <a:ext cx="2504626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memungkinkan LLM mengakses knowledge base terverifikasi sehingga menghasilkan jawaban yang akurat dan terdokumentasi sumbernya.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7062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Solusi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79450"/>
            <a:ext cx="36984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2220516"/>
            <a:ext cx="36259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504652"/>
            <a:ext cx="3698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RM-1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1714202"/>
            <a:ext cx="36984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mengembangkan platform chatbot yang menjawab pertanyaan keislaman secara akurat menggunakan knowledge base terverifikasi?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34901" y="3144143"/>
            <a:ext cx="36259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2428280"/>
            <a:ext cx="3698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RM-2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4901" y="2637830"/>
            <a:ext cx="36984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mengimplementasikan klasifikasi topik agar chatbot hanya merespons domain keislaman?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4901" y="3351907"/>
            <a:ext cx="3698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RM-3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4901" y="3561457"/>
            <a:ext cx="36984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mengukur performa retrieval dan kualitas jawaban yang dihasilkan sistem RAG?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65600" y="990600"/>
            <a:ext cx="12650" cy="3072408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3051" y="1079450"/>
            <a:ext cx="36985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83051" y="2220516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3051" y="1504652"/>
            <a:ext cx="3698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83051" y="1714202"/>
            <a:ext cx="3698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berbasis RAG dengan hybrid search (vektor + keyword) dan dashboard pengelolaan knowledge base.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83051" y="3144143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3051" y="2428280"/>
            <a:ext cx="3698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83051" y="2637830"/>
            <a:ext cx="3698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Regex, follow-up detection, dan LLM classifier untuk filter topik secara efisien dan akurat.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83051" y="3351907"/>
            <a:ext cx="3698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Terintegrasi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83051" y="3561457"/>
            <a:ext cx="369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Precision, Recall, F1-Score, Relevance, dan Accuracy bawaan di dashboard.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7618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79450"/>
            <a:ext cx="36984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2023765"/>
            <a:ext cx="36259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3905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6224" y="14731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1202" y="1498402"/>
            <a:ext cx="18593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1202" y="1720602"/>
            <a:ext cx="18593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domain keislaman dan fitur chatbot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34901" y="2776091"/>
            <a:ext cx="36259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21428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6224" y="222542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1202" y="2250728"/>
            <a:ext cx="1699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Arsitektur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41202" y="2472928"/>
            <a:ext cx="16996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Modular: Next.js + PostgreSQL + pgvector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34901" y="3528417"/>
            <a:ext cx="36259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28951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224" y="2977753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1202" y="3003054"/>
            <a:ext cx="19197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Sistem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41202" y="3225254"/>
            <a:ext cx="19197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RAG, klasifikasi, dashboard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36474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6224" y="373007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1202" y="3755380"/>
            <a:ext cx="1506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&amp; Evaluasi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41202" y="3977580"/>
            <a:ext cx="15065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metrik RAG dan validasi ahli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65600" y="990600"/>
            <a:ext cx="12650" cy="3608636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83051" y="1079450"/>
            <a:ext cx="36985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83051" y="1826865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3051" y="1492002"/>
            <a:ext cx="517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57777" y="1492002"/>
            <a:ext cx="1072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App Router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83051" y="2382292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3051" y="2047429"/>
            <a:ext cx="3512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22406" y="2047429"/>
            <a:ext cx="7004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5.x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83051" y="2937718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3051" y="2602855"/>
            <a:ext cx="4434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79643" y="2602855"/>
            <a:ext cx="11520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83051" y="3493145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3051" y="3158282"/>
            <a:ext cx="241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16614" y="3158282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83051" y="4048571"/>
            <a:ext cx="362604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3051" y="3713708"/>
            <a:ext cx="408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41741" y="3713708"/>
            <a:ext cx="78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GPT-4.1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3051" y="4269135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73876" y="4269135"/>
            <a:ext cx="851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4857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Penelitian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79450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— 3 DOMAIN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4901" y="1301651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453902"/>
            <a:ext cx="25217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1692027"/>
            <a:ext cx="252177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Surah, ayat, tafsir, asbabun nuzul, dan pengetahuan dasar tentang Al-Qur'an sebagai sumber utama hukum Islam.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35834" y="1301651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5834" y="1453902"/>
            <a:ext cx="25217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 &amp; Hukum Islam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5834" y="1692027"/>
            <a:ext cx="252177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Ibadah, muamalah, hukum keluarga, dan pandangan berbagai mazhab dalam kehidupan sehari-hari umat Islam.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36766" y="1301651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36766" y="1453902"/>
            <a:ext cx="25217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 &amp; Sejarah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6766" y="1692027"/>
            <a:ext cx="25217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Dasar-dasar aqidah, sejarah peradaban Islam, sirah nabawiyah, dan pemikiran teologi Islam.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4901" y="2476202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PEMROSESAN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34901" y="2703165"/>
            <a:ext cx="787419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739" y="3165128"/>
            <a:ext cx="18524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6739" y="3822353"/>
            <a:ext cx="18524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 (karakter)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36038" y="3165128"/>
            <a:ext cx="18526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36038" y="3822353"/>
            <a:ext cx="18526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(karakter)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55488" y="3165128"/>
            <a:ext cx="18524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55488" y="3822353"/>
            <a:ext cx="18524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 Embedding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674788" y="3165128"/>
            <a:ext cx="18524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4788" y="3822353"/>
            <a:ext cx="18524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Database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716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modular 4 lapisan — Next.js 15 App Router + React Server Components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1988493"/>
            <a:ext cx="78741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456879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704529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pengguna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904851" y="1314152"/>
            <a:ext cx="2150566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96592" y="1475929"/>
            <a:ext cx="1967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96592" y="1660029"/>
            <a:ext cx="1967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Next.js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131618" y="1314152"/>
            <a:ext cx="2150715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23357" y="1475929"/>
            <a:ext cx="1967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23357" y="1660029"/>
            <a:ext cx="19672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358533" y="1314152"/>
            <a:ext cx="2150566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50273" y="1475929"/>
            <a:ext cx="1967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50273" y="1660029"/>
            <a:ext cx="1967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34901" y="2756446"/>
            <a:ext cx="78741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2224832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901" y="2472482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04851" y="2082105"/>
            <a:ext cx="2150566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96592" y="2243882"/>
            <a:ext cx="1967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996592" y="2427982"/>
            <a:ext cx="1967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131618" y="2082105"/>
            <a:ext cx="2150715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23357" y="2243882"/>
            <a:ext cx="1967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/api/knowledge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23357" y="2427982"/>
            <a:ext cx="19672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358533" y="2082105"/>
            <a:ext cx="2150566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50273" y="2243882"/>
            <a:ext cx="1967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50273" y="2427982"/>
            <a:ext cx="1967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Config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34901" y="3524399"/>
            <a:ext cx="78741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901" y="2992785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4901" y="3240435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904851" y="2850059"/>
            <a:ext cx="1593800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02159" y="3011835"/>
            <a:ext cx="1399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Classifier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02159" y="3195935"/>
            <a:ext cx="13991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74852" y="2850059"/>
            <a:ext cx="1593949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72158" y="3011835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72158" y="3195935"/>
            <a:ext cx="13993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245001" y="2850059"/>
            <a:ext cx="1593949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42308" y="3011835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Client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42308" y="3195935"/>
            <a:ext cx="13993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Embed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915150" y="2850059"/>
            <a:ext cx="1593949" cy="580727"/>
          </a:xfrm>
          <a:prstGeom prst="roundRect">
            <a:avLst>
              <a:gd name="adj" fmla="val 8748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12457" y="3011835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012457" y="3195935"/>
            <a:ext cx="13993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2501" y="3529161"/>
            <a:ext cx="8178998" cy="701576"/>
          </a:xfrm>
          <a:prstGeom prst="roundRect">
            <a:avLst>
              <a:gd name="adj" fmla="val 7241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4901" y="3732312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901" y="3979962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1904851" y="3670548"/>
            <a:ext cx="1593800" cy="418802"/>
          </a:xfrm>
          <a:prstGeom prst="roundRect">
            <a:avLst>
              <a:gd name="adj" fmla="val 12130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002159" y="3832324"/>
            <a:ext cx="1399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74852" y="3670548"/>
            <a:ext cx="1593949" cy="418802"/>
          </a:xfrm>
          <a:prstGeom prst="roundRect">
            <a:avLst>
              <a:gd name="adj" fmla="val 12130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672158" y="3832324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app_config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45001" y="3670548"/>
            <a:ext cx="1593949" cy="418802"/>
          </a:xfrm>
          <a:prstGeom prst="roundRect">
            <a:avLst>
              <a:gd name="adj" fmla="val 12130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342308" y="3832324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chat_messages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15150" y="3670548"/>
            <a:ext cx="1593949" cy="418802"/>
          </a:xfrm>
          <a:prstGeom prst="roundRect">
            <a:avLst>
              <a:gd name="adj" fmla="val 12130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012457" y="3832324"/>
            <a:ext cx="1399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knowledge_chunks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6353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4901" y="1200001"/>
            <a:ext cx="1810345" cy="656927"/>
          </a:xfrm>
          <a:prstGeom prst="roundRect">
            <a:avLst>
              <a:gd name="adj" fmla="val 7733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237" y="1399877"/>
            <a:ext cx="1671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Dokumen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04237" y="1583978"/>
            <a:ext cx="16716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judul, konten, sumber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495996" y="1447502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6136" y="1200001"/>
            <a:ext cx="1810494" cy="656927"/>
          </a:xfrm>
          <a:prstGeom prst="roundRect">
            <a:avLst>
              <a:gd name="adj" fmla="val 7733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5470" y="1399877"/>
            <a:ext cx="1671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25470" y="1583978"/>
            <a:ext cx="16718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char, 50 overlap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17380" y="1447502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7519" y="1200001"/>
            <a:ext cx="1810345" cy="656927"/>
          </a:xfrm>
          <a:prstGeom prst="roundRect">
            <a:avLst>
              <a:gd name="adj" fmla="val 7733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6855" y="1399877"/>
            <a:ext cx="1671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855" y="1583978"/>
            <a:ext cx="16716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538615" y="1447502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8754" y="1200001"/>
            <a:ext cx="1810345" cy="656927"/>
          </a:xfrm>
          <a:prstGeom prst="roundRect">
            <a:avLst>
              <a:gd name="adj" fmla="val 7733"/>
            </a:avLst>
          </a:prstGeom>
          <a:solidFill>
            <a:srgbClr val="0F1B2D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68090" y="1399877"/>
            <a:ext cx="1671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768090" y="1583978"/>
            <a:ext cx="16716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34901" y="2034629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4901" y="2231380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01" y="2370981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2618631"/>
            <a:ext cx="25390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901" y="2945606"/>
            <a:ext cx="253908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antara query embedding dan chunk embedding. Menangkap kesamaan semantik.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27350" y="2231380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27350" y="2370981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7350" y="2618631"/>
            <a:ext cx="25390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27350" y="2945606"/>
            <a:ext cx="253908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via ts_rank. Efektif untuk istilah teknis keislaman seperti nama surah.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19800" y="2231380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19800" y="2370981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Boosting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19800" y="2618631"/>
            <a:ext cx="25390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19800" y="2945606"/>
            <a:ext cx="253908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skor untuk konten Al-Qur'an dan hadits. Kumulatif hingga +0.24 per chunk.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4901" y="3432572"/>
            <a:ext cx="787419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159" y="3627686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skor_akhir</a:t>
            </a:r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(skor_vektor × 0.75) + (skor_keyword × 0.25) + domain_boost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8984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 — 3 Lapisan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Menjamin chatbot eksklusif merespons pertanyaan domain keislaman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4901" y="1250752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377553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4901" y="1587103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Regex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1809304"/>
            <a:ext cx="253908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Pencocokan kata kunci secara deterministik. Kata Islam (fiqh, shalat, zakat, tafsir) langsung diizinkan. Non-Islam langsung ditolak.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34901" y="2324546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pemanggilan LLM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327350" y="1250752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7350" y="1377553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27350" y="1587103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Follow-Up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27350" y="1809304"/>
            <a:ext cx="253908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konteks percakapan sebelumnya. Cek shared terms dan reference cue ("itu", "tersebut") di 6 pesan terakhir.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27350" y="2182416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riwayat chat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019800" y="1250752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19800" y="1377553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19800" y="1587103"/>
            <a:ext cx="2539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LLM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9800" y="1809304"/>
            <a:ext cx="253908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gpt-4.1-nano menentukan topik dengan output JSON. Multi-model fallback: nano, mini, gpt-4o-mini.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19800" y="2182416"/>
            <a:ext cx="2539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+ fallback chain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34901" y="2629198"/>
            <a:ext cx="7874198" cy="495002"/>
          </a:xfrm>
          <a:prstGeom prst="roundRect">
            <a:avLst>
              <a:gd name="adj" fmla="val 10263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127" y="2829074"/>
            <a:ext cx="76497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Alur: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Pesan Masuk → Regex → Follow-up → LLM →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6180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Pemrosesan Chat 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 — 6 TAHAP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4901" y="1200001"/>
            <a:ext cx="1166664" cy="586978"/>
          </a:xfrm>
          <a:prstGeom prst="roundRect">
            <a:avLst>
              <a:gd name="adj" fmla="val 8654"/>
            </a:avLst>
          </a:prstGeom>
          <a:solidFill>
            <a:srgbClr val="0F1B2D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7618" y="1380827"/>
            <a:ext cx="10412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Validasi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97618" y="1558528"/>
            <a:ext cx="1041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Zod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1839664" y="1417290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76289" y="1200001"/>
            <a:ext cx="1166813" cy="586978"/>
          </a:xfrm>
          <a:prstGeom prst="roundRect">
            <a:avLst>
              <a:gd name="adj" fmla="val 865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39005" y="1380827"/>
            <a:ext cx="1041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Registrasi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039005" y="1558528"/>
            <a:ext cx="1041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Partisipan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3181201" y="1417290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7825" y="1200001"/>
            <a:ext cx="1166664" cy="586978"/>
          </a:xfrm>
          <a:prstGeom prst="roundRect">
            <a:avLst>
              <a:gd name="adj" fmla="val 865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0543" y="1380827"/>
            <a:ext cx="10412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Klasifikasi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80543" y="1558528"/>
            <a:ext cx="1041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Lapisan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4522589" y="1417290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59213" y="1200001"/>
            <a:ext cx="1166813" cy="586978"/>
          </a:xfrm>
          <a:prstGeom prst="roundRect">
            <a:avLst>
              <a:gd name="adj" fmla="val 865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1929" y="1380827"/>
            <a:ext cx="1041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RAG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21929" y="1558528"/>
            <a:ext cx="1041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5864126" y="1417290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0750" y="1200001"/>
            <a:ext cx="1166813" cy="586978"/>
          </a:xfrm>
          <a:prstGeom prst="roundRect">
            <a:avLst>
              <a:gd name="adj" fmla="val 865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63466" y="1380827"/>
            <a:ext cx="1041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LLM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063466" y="1558528"/>
            <a:ext cx="1041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7205663" y="1417290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42287" y="1200001"/>
            <a:ext cx="1166813" cy="586978"/>
          </a:xfrm>
          <a:prstGeom prst="roundRect">
            <a:avLst>
              <a:gd name="adj" fmla="val 8654"/>
            </a:avLst>
          </a:prstGeom>
          <a:solidFill>
            <a:srgbClr val="0F1B2D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05003" y="1380827"/>
            <a:ext cx="1041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Response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405003" y="1558528"/>
            <a:ext cx="1041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34901" y="1964680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4901" y="2161431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4901" y="2294632"/>
            <a:ext cx="18719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Gambar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4901" y="2497782"/>
            <a:ext cx="187190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menganalisis konten visual dari URL gambar yang dikirim pengguna sebagai konteks tambahan.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47801" y="2161431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47801" y="2294632"/>
            <a:ext cx="1872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Kedalaman Respons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47801" y="2497782"/>
            <a:ext cx="187205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level: Ringkas (inti), Standar (contoh), Mendalam (dalil + perbandingan mazhab).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660850" y="2161431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60850" y="2294632"/>
            <a:ext cx="18719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Sitasi Sumber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0850" y="2497782"/>
            <a:ext cx="187190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menyertakan referensi dari knowledge base untuk proses verifikasi pengguna.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673751" y="2161431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73751" y="2294632"/>
            <a:ext cx="1872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Isolation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3751" y="2497782"/>
            <a:ext cx="187205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terisolasi per pengguna. Konteks memori dapat dikonfigurasi.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5337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&amp; Performa RAG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46635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AGREGAT — 3 KUERI UJI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2425005"/>
            <a:ext cx="1456283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103" y="1580704"/>
            <a:ext cx="138187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103" y="2129879"/>
            <a:ext cx="13818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92685" y="2425005"/>
            <a:ext cx="1456432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9886" y="1580704"/>
            <a:ext cx="13820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29886" y="2129879"/>
            <a:ext cx="1382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750618" y="2425005"/>
            <a:ext cx="1456432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7819" y="1580704"/>
            <a:ext cx="13820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87819" y="2129879"/>
            <a:ext cx="1382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34901" y="3710434"/>
            <a:ext cx="223525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314" y="2866132"/>
            <a:ext cx="21764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4314" y="3415308"/>
            <a:ext cx="21764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Relevance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71651" y="3710434"/>
            <a:ext cx="223539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1063" y="2866132"/>
            <a:ext cx="217657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01063" y="3415308"/>
            <a:ext cx="21765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Accuracy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60950" y="1028551"/>
            <a:ext cx="31091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KATEGORI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60950" y="1912293"/>
            <a:ext cx="30481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0950" y="1428304"/>
            <a:ext cx="949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0950" y="1644104"/>
            <a:ext cx="9495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"Surah pertama kali turun?"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8076902" y="1480691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60950" y="2604046"/>
            <a:ext cx="30481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0950" y="2120057"/>
            <a:ext cx="11222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0950" y="2335857"/>
            <a:ext cx="11222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"Hukum membunuh perampok?"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076902" y="2172444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60950" y="2811810"/>
            <a:ext cx="1200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60950" y="3027611"/>
            <a:ext cx="12001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"Kenapa Islam agama sempurna?"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076902" y="2864197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0950" y="3417987"/>
            <a:ext cx="3048149" cy="783282"/>
          </a:xfrm>
          <a:prstGeom prst="roundRect">
            <a:avLst>
              <a:gd name="adj" fmla="val 6486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87901" y="3608338"/>
            <a:ext cx="2850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Utama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87901" y="3786039"/>
            <a:ext cx="2850133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sempurna. Korelasi Relevance-Accuracy identik: tidak ada hallucination terdeteksi.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243888" y="4756249"/>
            <a:ext cx="270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7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4901" y="3796159"/>
          <a:ext cx="3638550" cy="128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18312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79450"/>
            <a:ext cx="80316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METRIK EVALUASI RAG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2284958"/>
            <a:ext cx="143262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301651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441252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1663452"/>
            <a:ext cx="1461272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dari seluruh chunk yang diambil oleh sistem retrieval.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45221" y="2284958"/>
            <a:ext cx="143276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5221" y="1301651"/>
            <a:ext cx="304800" cy="253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5221" y="1441252"/>
            <a:ext cx="1461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5221" y="1663452"/>
            <a:ext cx="146142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yang berhasil ditemukan dari seluruh data relevan.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55690" y="2284958"/>
            <a:ext cx="143262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5690" y="1301651"/>
            <a:ext cx="304800" cy="25301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55690" y="1441252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55690" y="1663452"/>
            <a:ext cx="1461272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harmonik Precision dan Recall sebagai metrik keseimbangan.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66011" y="2284958"/>
            <a:ext cx="143276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6011" y="1301651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66011" y="1441252"/>
            <a:ext cx="1461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66011" y="1663452"/>
            <a:ext cx="146142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kesesuaian jawaban terhadap pertanyaan, dinilai oleh LLM evaluator.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076480" y="2284958"/>
            <a:ext cx="143262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6480" y="1301651"/>
            <a:ext cx="304800" cy="253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76480" y="1441252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76480" y="1663452"/>
            <a:ext cx="1461272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ketepatan factual jawaban, dinilai oleh LLM evaluator.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34901" y="2518321"/>
            <a:ext cx="2540050" cy="663327"/>
          </a:xfrm>
          <a:prstGeom prst="roundRect">
            <a:avLst>
              <a:gd name="adj" fmla="val 7658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031" y="2696021"/>
            <a:ext cx="23837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13031" y="2857946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TP / (TP + FP)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01901" y="2518321"/>
            <a:ext cx="2540198" cy="663327"/>
          </a:xfrm>
          <a:prstGeom prst="roundRect">
            <a:avLst>
              <a:gd name="adj" fmla="val 7658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0030" y="2696021"/>
            <a:ext cx="2383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380030" y="2857946"/>
            <a:ext cx="2383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TP / (TP + FN)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69050" y="2518321"/>
            <a:ext cx="2540050" cy="663327"/>
          </a:xfrm>
          <a:prstGeom prst="roundRect">
            <a:avLst>
              <a:gd name="adj" fmla="val 7658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47180" y="2696021"/>
            <a:ext cx="23837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047180" y="2857946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2(P × R) / (P + R)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8596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 &amp; Perbandingan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3724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4901" y="1225302"/>
            <a:ext cx="3651349" cy="1818829"/>
          </a:xfrm>
          <a:prstGeom prst="roundRect">
            <a:avLst>
              <a:gd name="adj" fmla="val 4190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1492002"/>
            <a:ext cx="33618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Ustadz Negus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2602" y="1714202"/>
            <a:ext cx="33618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Ranting Muhammadiyah Alasombo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2602" y="1936254"/>
            <a:ext cx="33618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Kesantrian PP Tahfidzul Qur'an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12602" y="2120354"/>
            <a:ext cx="33618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Hafidz Al-Qur'an 30 Juz, Ahli Hadits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12602" y="2342555"/>
            <a:ext cx="33618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Hasil: SANGAT LAYAK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2602" y="2612380"/>
            <a:ext cx="33618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pertanyaan fiqh diuji. Dalil sesuai nash asli. Tidak ditemukan kesalahan substansial.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4426" y="3145631"/>
            <a:ext cx="0" cy="682377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901" y="3342382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Ahli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80901" y="3542407"/>
            <a:ext cx="3445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referensi kitab 4 mazhab dan kitab tafsir Al-Qur'an.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65600" y="939701"/>
            <a:ext cx="12650" cy="3292227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57601" y="1028551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57601" y="1928068"/>
            <a:ext cx="36514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601" y="1428304"/>
            <a:ext cx="2085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Asther (Kami)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57601" y="1644104"/>
            <a:ext cx="20854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Multi-domain, Hybrid RAG, KB CRUD, Evaluasi bawaan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857601" y="2635597"/>
            <a:ext cx="36514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601" y="2135832"/>
            <a:ext cx="1913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QuranGPT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57601" y="2351633"/>
            <a:ext cx="1913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 saja, DB statis, Mobile app, Tanpa CRUD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857601" y="2843361"/>
            <a:ext cx="20748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HadithGPT (Offline)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57601" y="3059162"/>
            <a:ext cx="20748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Hadits saja, 40K hadits statis, Offline karena isu akurasi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857601" y="3465314"/>
            <a:ext cx="3651498" cy="766614"/>
          </a:xfrm>
          <a:prstGeom prst="roundRect">
            <a:avLst>
              <a:gd name="adj" fmla="val 6627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84552" y="3655665"/>
            <a:ext cx="3465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Asther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84552" y="3833366"/>
            <a:ext cx="346554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Satu-satunya platform dengan knowledge base terkelola, hybrid RAG, klasifikasi 3 lapisan, dan evaluasi bawaan.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651"/>
            <a:ext cx="167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20153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7874198" cy="1265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28551"/>
            <a:ext cx="3724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34901" y="1884015"/>
            <a:ext cx="36513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409402"/>
            <a:ext cx="3724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 berhasil dikembangkan berbasis RAG menggunakan Next.js 15, PostgreSQL, dan pgvector.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34901" y="2547491"/>
            <a:ext cx="36513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2072878"/>
            <a:ext cx="3724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 3 lapisan (Regex, Follow-up, LLM) efektif membatasi cakupan pada domain keislaman.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34901" y="3210967"/>
            <a:ext cx="36513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2736354"/>
            <a:ext cx="3724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(75:25) + domain boosting menghasilkan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R = F1 = 100%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Accuracy 86.2%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4901" y="3874443"/>
            <a:ext cx="3651349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3399830"/>
            <a:ext cx="3724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konfiguratif memungkinkan pengelolaan knowledge base tanpa keahlian pemrograman.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4901" y="4063305"/>
            <a:ext cx="3724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 (Ustadz Negus) menyatakan sistem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layak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akurat, dan dalil sesuai nash asli.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65600" y="939701"/>
            <a:ext cx="12650" cy="3593455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601" y="1028551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PENGEMBANGAN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57601" y="1887141"/>
            <a:ext cx="36514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601" y="1409402"/>
            <a:ext cx="3724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57601" y="1609427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Enkripsi API key, rate limiting, CORS ketat, audit trail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57601" y="2553742"/>
            <a:ext cx="36514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601" y="2076004"/>
            <a:ext cx="3724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Enhancement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57601" y="2276029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chunking, cross-encoder re-ranking, upload file PDF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857601" y="3220343"/>
            <a:ext cx="3651498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601" y="2742605"/>
            <a:ext cx="3724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57601" y="2942630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kitab 4 mazhab dan kitab tafsir Al-Qur'an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57601" y="3409206"/>
            <a:ext cx="3724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Monitoring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57601" y="3609231"/>
            <a:ext cx="3724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test, E2E test, dashboard analitik token usage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37190" y="4756249"/>
            <a:ext cx="277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11650" y="1446312"/>
            <a:ext cx="1346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17950" y="1839813"/>
            <a:ext cx="507950" cy="126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78684" y="2334964"/>
            <a:ext cx="26382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22204" y="3296989"/>
            <a:ext cx="1529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36343" y="3582739"/>
            <a:ext cx="1500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A8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 — Informatika UMS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Pendadaran - Platform Chatbot Asther Berbasis RAG untuk Domain Keilmuan Islam</dc:title>
  <dc:subject>Sidang Pendadaran Informatika UMS</dc:subject>
  <dc:creator>Muhammad Rakha Abimanyu</dc:creator>
  <cp:lastModifiedBy>Muhammad Rakha Abimanyu</cp:lastModifiedBy>
  <cp:revision>1</cp:revision>
  <dcterms:created xsi:type="dcterms:W3CDTF">2026-05-04T16:28:00Z</dcterms:created>
  <dcterms:modified xsi:type="dcterms:W3CDTF">2026-05-04T16:28:00Z</dcterms:modified>
</cp:coreProperties>
</file>